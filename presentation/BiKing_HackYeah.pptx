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BiKing makes city and environmental context part of bicycle route selection. The current product is the Flask/Leaflet app, not the obsolete Streamlit demo. Original logo: app/static/logo.png. No team roster was found, so no names were invented. This deck serves both requested categories. No medical outcome is claimed.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conceptual comparison, not a claim that a particular measured pair has similar time or a given exposure reduction. Implemented factors: PM2.5, PM10, NO₂, UTCI/felt temperature, shade-adjusted UV, buildings and trees. Sources: app/env/exposure.py:compute_edge_exposure; app/engine/metrics.py:route_metrics. Pollution and thermal fields are model estimates, not sensors on every street. Shade does not guarantee cleaner air; the factors remain distinct.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UI source: app/static/index.html and app/static/app.js. Users click or drag map waypoints; the route automatically recalculates. Up to five points are accepted. Scenario/profile/departure controls and selected heat/air/UV factors are implemented. POST /api/route/tradeoff powers the comfort/time slider. GPX export is implemented in routeToGpx/exportGpx. Screenshot: presentation/main_ui.png, supplied by the user. The browser toolbar is cropped in PowerPoint; the source image is preserved. This overview shows a separate slider selection from the route cards on slide 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data paths: app/env/fetch.py queries Open-Meteo weather, air-quality (CAMS) and GIOŚ. GIOŚ supplies a city correction and an IDW spatial background; road-class factors are calibrated in pipeline/calibrate_road.py. Geometry adapters in pipeline/p03_buildings.py and pipeline/shade_build.py handle GUGiK LoD1 2024, OSM and MSIP 2015 green cover, with documented fallbacks. Building heights may be measured, tagged, inferred from floors, or defaults; tree heights are assumptions. Graph construction is offline OSM PBF → pyosmium → OSMnx → SciPy CSR. No Airly, Sentinel or Google Maps integration is claimed. The optional Landsat heat-map pipeline adds a surface-temperature anomaly correction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formula: app/engine/variants.py:eco_cost. C_e = t_e * (1 + alpha * X_e + w * P_e). D10 is the 10th percentile of current discomfort over every graph edge. X = clip((D-D10)/max(1-D10, 1e-6), 0, 1). P = A/median(A) + clip(A-A10, 0, 1), with A cleaned/clipped to [0.1,6]. w = 6 for Asthma and 0 for other profiles; alpha is 5/5/4/3 for standard/asthma/senior/athlete. Profile speeds set t = length/speed. D comes from profile-specific Mamdani fuzzy LUTs with 11 rules. The time/comfort slider scales both environmental weights. app/graph/routing.py uses scipy.sparse.csgraph.dijkstra, not A* or NetworkX at request time. Summed edge costs select the path; this is not post-hoc colouring. The displayed baseline expression omits only the 1e-6 division guard for clarity.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Hero implementation: pipeline/p04_height_raster.py rasterizes footprints and heights in EPSG:2180 at 2 m. pipeline/p05_shade.py:shaded_points traces road sample rays toward the sun: obstacle height &gt; EYE + d*tan(elevation), EYE=1.5 m, d=2..120 m in 2 m steps. Points inside obstacles of at least 3 m are also marked shaded. Equal-length edge cells have midpoint samples no farther than 15 m apart, minimum two. Their shaded fraction is stored as uint8 in (E,16,8), indexed by eid. These are model settings, not measured performance. app/shade/sun.py uses pvlib NREL apparent elevation and azimuth. app/shade/model.py uses nearest circular azimuth bin, linear elevation interpolation; daylight elevation is clamped to 5..65 degrees, night returns 1. Runtime uses prepared tables, not fresh GIS ray-marching per request. The native diagram is explanatory geometry, not a fabricated app screenshot or Kraków measurement. No polygon-shadow generation, full 3D ray tracing, terrain effects or measured tree heights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map: presentation/route_comparison.png. The active Fastest route has orange discomfort segments; the More comfortable alternative is blue in the accessibility palette. The legend matches the supplied image. Values are transcribed from presentation/route_detail.png, shown on slide 8: Fastest 4.3 km / 17.3 min / 12% shade / 36.9°C / 5.1 µg PM2.5; More comfortable 5.5 km / 22.2 min / 47% shade / 34.8°C / 6.0 µg PM2.5. BiKing here means More comfortable. The metrics are implemented fields in app/engine/metrics.py: time_min, shade_pct, utci_avg_c, pm25_dose_ug. Shade and UTCI are time-weighted; PM2.5 dose is concentration × profile ventilation × travel time. The screenshots show model estimates for one demo. The Fastest route is a BiKing baseline at profile speed, not a Google Maps benchmark. If both routes coincide, the app explicitly reports that rather than forcing a detour. The main UI screenshot on slide 3 is a separate application overview. No API response accompanied the supplied images; numbers use the visible card precision.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Usability implemented in app/static/app.js and index.html: route comparison cards, metric glossary, avoided-street explanations, segment colours, comfort/time slider and chart, GPX export. Accessibility options include colour-vision palettes, increased text size, high contrast, reduced motion, dashed vs solid routes and browser speech synthesis. Selected factors only change route scoring; the metric cards retain all modelled factors. This is route planning with informed selection; no clinical validation or built-in live navigation is claimed. Screenshot: presentation/route_detail.png, supplied by the user and preserved in its portrait aspect ratio. The card values show +4.9 min (+28%), +35 percentage points of shade, −2.1°C UTCI, −5.0 min high UV, and +18% modelled PM2.5 dose. Show the trade-off explicitly. The slider is visible in the main UI screenshot on slide 3; this crop shows the route cards, GPX buttons and avoided-street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integrated layers: browser interface, API/application engine, routing/environment model, and GIS preprocessing/cache. The full real-module integration chain is tested with small fixture networks in tests/test_integration.py; those are not measured city routes. app/providers.py makes modules injectable and discloses mock/fallback status through /api/health. Offline geometry: OSM filtering including bicycle contraflow, deterministic eid indexing, CRS transformations, height raster and shade LUTs with graph fingerprints. Online: cached conditions, cost LRU, vector exposure and SciPy route search. Live refresh and stale fallback are implemented; recorded heatwave/smog days exist as 24-hour JSON scenarios with spatial weather grids. Optional pipeline/heat_map_build.py implements Landsat 8/9 surface-anomaly processing via Microsoft Planetary Computer, with edge_heat.npz prepared alongside the graph and shade artifacts in data/processed. No machine-learned microclimate model, NSGA-II, streaming evolutionary search, or reproducible city benchmark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category mapping expresses intended practical value: support cycling/outdoor activity and informed route selection; turn urban geometry, the bicycle network and environmental data into individual journey decisions. No user study, increase in cycling, citywide benefit measurement, disease prevention, medical effect or guaranteed exposure reduction is claimed. Closing line connects both categories through the same product story.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1B"/>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65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65E5A0"/>
                </a:solidFill>
                <a:latin typeface="Arial"/>
              </a:rPr>
              <a:t>HACKYEAH 2026 / KRAKÓW</a:t>
            </a:r>
          </a:p>
        </p:txBody>
      </p:sp>
      <p:cxnSp>
        <p:nvCxnSpPr>
          <p:cNvPr id="4" name="line"/>
          <p:cNvCxnSpPr/>
          <p:nvPr/>
        </p:nvCxnSpPr>
        <p:spPr>
          <a:xfrm>
            <a:off x="658368" y="7754112"/>
            <a:ext cx="13313664" cy="0"/>
          </a:xfrm>
          <a:prstGeom prst="line">
            <a:avLst/>
          </a:prstGeom>
          <a:ln w="10160">
            <a:solidFill>
              <a:srgbClr val="2B4435"/>
            </a:solidFill>
          </a:ln>
        </p:spPr>
        <p:style>
          <a:lnRef idx="2">
            <a:schemeClr val="accent1"/>
          </a:lnRef>
          <a:fillRef idx="0">
            <a:schemeClr val="accent1"/>
          </a:fillRef>
          <a:effectRef idx="1">
            <a:schemeClr val="accent1"/>
          </a:effectRef>
          <a:fontRef idx="minor">
            <a:schemeClr val="tx1"/>
          </a:fontRef>
        </p:style>
      </p:cxnSp>
      <p:sp>
        <p:nvSpPr>
          <p:cNvPr id="5"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C0D0C5"/>
                </a:solidFill>
                <a:latin typeface="Arial"/>
              </a:rPr>
              <a:t>BiKing  /  HackYeah 2026</a:t>
            </a:r>
          </a:p>
        </p:txBody>
      </p:sp>
      <p:sp>
        <p:nvSpPr>
          <p:cNvPr id="6"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C0D0C5"/>
                </a:solidFill>
                <a:latin typeface="Arial"/>
              </a:rPr>
              <a:t>01 / 10</a:t>
            </a:r>
          </a:p>
        </p:txBody>
      </p:sp>
      <p:sp>
        <p:nvSpPr>
          <p:cNvPr id="7" name="text"/>
          <p:cNvSpPr txBox="1"/>
          <p:nvPr/>
        </p:nvSpPr>
        <p:spPr>
          <a:xfrm>
            <a:off x="658368" y="1024128"/>
            <a:ext cx="8229600" cy="1005840"/>
          </a:xfrm>
          <a:prstGeom prst="rect">
            <a:avLst/>
          </a:prstGeom>
          <a:noFill/>
        </p:spPr>
        <p:txBody>
          <a:bodyPr wrap="none" lIns="0" rIns="0" tIns="0" bIns="0" anchor="t">
            <a:spAutoFit/>
          </a:bodyPr>
          <a:lstStyle/>
          <a:p>
            <a:pPr algn="l">
              <a:lnSpc>
                <a:spcPts val="7819"/>
              </a:lnSpc>
              <a:spcBef>
                <a:spcPts val="0"/>
              </a:spcBef>
              <a:spcAft>
                <a:spcPts val="0"/>
              </a:spcAft>
            </a:pPr>
            <a:r>
              <a:rPr sz="6800" b="1">
                <a:solidFill>
                  <a:srgbClr val="FFFFFF"/>
                </a:solidFill>
                <a:latin typeface="Arial"/>
              </a:rPr>
              <a:t>BiKing</a:t>
            </a:r>
          </a:p>
        </p:txBody>
      </p:sp>
      <p:sp>
        <p:nvSpPr>
          <p:cNvPr id="8" name="text"/>
          <p:cNvSpPr txBox="1"/>
          <p:nvPr/>
        </p:nvSpPr>
        <p:spPr>
          <a:xfrm>
            <a:off x="658368" y="2514600"/>
            <a:ext cx="8503920" cy="731520"/>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FFFFFF"/>
                </a:solidFill>
                <a:latin typeface="Arial"/>
              </a:rPr>
              <a:t>The shortest route</a:t>
            </a:r>
          </a:p>
        </p:txBody>
      </p:sp>
      <p:sp>
        <p:nvSpPr>
          <p:cNvPr id="9" name="text"/>
          <p:cNvSpPr txBox="1"/>
          <p:nvPr/>
        </p:nvSpPr>
        <p:spPr>
          <a:xfrm>
            <a:off x="658368" y="3182112"/>
            <a:ext cx="8503920" cy="731520"/>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FFFFFF"/>
                </a:solidFill>
                <a:latin typeface="Arial"/>
              </a:rPr>
              <a:t>is not always</a:t>
            </a:r>
          </a:p>
        </p:txBody>
      </p:sp>
      <p:sp>
        <p:nvSpPr>
          <p:cNvPr id="10" name="text"/>
          <p:cNvSpPr txBox="1"/>
          <p:nvPr/>
        </p:nvSpPr>
        <p:spPr>
          <a:xfrm>
            <a:off x="658368" y="3849624"/>
            <a:ext cx="8503920" cy="731520"/>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65E5A0"/>
                </a:solidFill>
                <a:latin typeface="Arial"/>
              </a:rPr>
              <a:t>the best route.</a:t>
            </a:r>
          </a:p>
        </p:txBody>
      </p:sp>
      <p:sp>
        <p:nvSpPr>
          <p:cNvPr id="11" name="text"/>
          <p:cNvSpPr txBox="1"/>
          <p:nvPr/>
        </p:nvSpPr>
        <p:spPr>
          <a:xfrm>
            <a:off x="658368" y="5093208"/>
            <a:ext cx="8412480" cy="941832"/>
          </a:xfrm>
          <a:prstGeom prst="rect">
            <a:avLst/>
          </a:prstGeom>
          <a:noFill/>
        </p:spPr>
        <p:txBody>
          <a:bodyPr wrap="none" lIns="0" rIns="0" tIns="0" bIns="0" anchor="t">
            <a:spAutoFit/>
          </a:bodyPr>
          <a:lstStyle/>
          <a:p>
            <a:pPr algn="l">
              <a:lnSpc>
                <a:spcPts val="3104"/>
              </a:lnSpc>
              <a:spcBef>
                <a:spcPts val="0"/>
              </a:spcBef>
              <a:spcAft>
                <a:spcPts val="0"/>
              </a:spcAft>
            </a:pPr>
            <a:r>
              <a:rPr sz="2700" b="0">
                <a:solidFill>
                  <a:srgbClr val="C0D0C5"/>
                </a:solidFill>
                <a:latin typeface="Arial"/>
              </a:rPr>
              <a:t>Cycling routes adapted to</a:t>
            </a:r>
          </a:p>
          <a:p>
            <a:pPr algn="l">
              <a:lnSpc>
                <a:spcPts val="3104"/>
              </a:lnSpc>
              <a:spcBef>
                <a:spcPts val="0"/>
              </a:spcBef>
              <a:spcAft>
                <a:spcPts val="0"/>
              </a:spcAft>
            </a:pPr>
            <a:r>
              <a:rPr sz="2700" b="0">
                <a:solidFill>
                  <a:srgbClr val="C0D0C5"/>
                </a:solidFill>
                <a:latin typeface="Arial"/>
              </a:rPr>
              <a:t>the city around you.</a:t>
            </a:r>
          </a:p>
        </p:txBody>
      </p:sp>
      <p:sp>
        <p:nvSpPr>
          <p:cNvPr id="12" name="shape"/>
          <p:cNvSpPr/>
          <p:nvPr/>
        </p:nvSpPr>
        <p:spPr>
          <a:xfrm>
            <a:off x="658368" y="6638544"/>
            <a:ext cx="3044952" cy="393192"/>
          </a:xfrm>
          <a:prstGeom prst="roundRect">
            <a:avLst>
              <a:gd name="adj" fmla="val 12000"/>
            </a:avLst>
          </a:prstGeom>
          <a:solidFill>
            <a:srgbClr val="1B3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768096" y="6725412"/>
            <a:ext cx="2825496" cy="256032"/>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65E5A0"/>
                </a:solidFill>
                <a:latin typeface="Arial"/>
              </a:rPr>
              <a:t>SPORT &amp; HEALTHCARE</a:t>
            </a:r>
          </a:p>
        </p:txBody>
      </p:sp>
      <p:sp>
        <p:nvSpPr>
          <p:cNvPr id="14" name="shape"/>
          <p:cNvSpPr/>
          <p:nvPr/>
        </p:nvSpPr>
        <p:spPr>
          <a:xfrm>
            <a:off x="3886200" y="6638544"/>
            <a:ext cx="1828800" cy="393192"/>
          </a:xfrm>
          <a:prstGeom prst="roundRect">
            <a:avLst>
              <a:gd name="adj" fmla="val 12000"/>
            </a:avLst>
          </a:prstGeom>
          <a:solidFill>
            <a:srgbClr val="1B3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3995928" y="6725412"/>
            <a:ext cx="1609344" cy="256032"/>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65E5A0"/>
                </a:solidFill>
                <a:latin typeface="Arial"/>
              </a:rPr>
              <a:t>SMART CITY</a:t>
            </a:r>
          </a:p>
        </p:txBody>
      </p:sp>
      <p:sp>
        <p:nvSpPr>
          <p:cNvPr id="16" name="shape"/>
          <p:cNvSpPr/>
          <p:nvPr/>
        </p:nvSpPr>
        <p:spPr>
          <a:xfrm>
            <a:off x="9656064" y="987552"/>
            <a:ext cx="4315968" cy="62910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BiKing-original-logo" descr="logo.png"/>
          <p:cNvPicPr>
            <a:picLocks noChangeAspect="1"/>
          </p:cNvPicPr>
          <p:nvPr/>
        </p:nvPicPr>
        <p:blipFill>
          <a:blip r:embed="rId2"/>
          <a:srcRect/>
          <a:stretch>
            <a:fillRect/>
          </a:stretch>
        </p:blipFill>
        <p:spPr>
          <a:xfrm>
            <a:off x="9976104" y="1472184"/>
            <a:ext cx="3657600" cy="3657600"/>
          </a:xfrm>
          <a:prstGeom prst="rect">
            <a:avLst/>
          </a:prstGeom>
        </p:spPr>
      </p:pic>
      <p:sp>
        <p:nvSpPr>
          <p:cNvPr id="18" name="text"/>
          <p:cNvSpPr txBox="1"/>
          <p:nvPr/>
        </p:nvSpPr>
        <p:spPr>
          <a:xfrm>
            <a:off x="9939528" y="5486400"/>
            <a:ext cx="3730752" cy="292608"/>
          </a:xfrm>
          <a:prstGeom prst="rect">
            <a:avLst/>
          </a:prstGeom>
          <a:noFill/>
        </p:spPr>
        <p:txBody>
          <a:bodyPr wrap="none" lIns="0" rIns="0" tIns="0" bIns="0" anchor="t">
            <a:spAutoFit/>
          </a:bodyPr>
          <a:lstStyle/>
          <a:p>
            <a:pPr algn="ctr">
              <a:lnSpc>
                <a:spcPts val="1954"/>
              </a:lnSpc>
              <a:spcBef>
                <a:spcPts val="0"/>
              </a:spcBef>
              <a:spcAft>
                <a:spcPts val="0"/>
              </a:spcAft>
            </a:pPr>
            <a:r>
              <a:rPr sz="1700" b="1">
                <a:solidFill>
                  <a:srgbClr val="087B45"/>
                </a:solidFill>
                <a:latin typeface="Arial"/>
              </a:rPr>
              <a:t>CITY CONTEXT</a:t>
            </a:r>
          </a:p>
        </p:txBody>
      </p:sp>
      <p:sp>
        <p:nvSpPr>
          <p:cNvPr id="19" name="text"/>
          <p:cNvSpPr txBox="1"/>
          <p:nvPr/>
        </p:nvSpPr>
        <p:spPr>
          <a:xfrm>
            <a:off x="9939528" y="5989320"/>
            <a:ext cx="3730752" cy="393192"/>
          </a:xfrm>
          <a:prstGeom prst="rect">
            <a:avLst/>
          </a:prstGeom>
          <a:noFill/>
        </p:spPr>
        <p:txBody>
          <a:bodyPr wrap="none" lIns="0" rIns="0" tIns="0" bIns="0" anchor="t">
            <a:spAutoFit/>
          </a:bodyPr>
          <a:lstStyle/>
          <a:p>
            <a:pPr algn="ctr">
              <a:lnSpc>
                <a:spcPts val="2300"/>
              </a:lnSpc>
              <a:spcBef>
                <a:spcPts val="0"/>
              </a:spcBef>
              <a:spcAft>
                <a:spcPts val="0"/>
              </a:spcAft>
            </a:pPr>
            <a:r>
              <a:rPr sz="2000" b="0">
                <a:solidFill>
                  <a:srgbClr val="14231D"/>
                </a:solidFill>
                <a:latin typeface="Arial"/>
              </a:rPr>
              <a:t>Air  ·  Heat  ·  UV  ·  Shade</a:t>
            </a:r>
          </a:p>
        </p:txBody>
      </p:sp>
      <p:cxnSp>
        <p:nvCxnSpPr>
          <p:cNvPr id="20" name="line"/>
          <p:cNvCxnSpPr/>
          <p:nvPr/>
        </p:nvCxnSpPr>
        <p:spPr>
          <a:xfrm>
            <a:off x="10716768" y="6720840"/>
            <a:ext cx="2194560" cy="0"/>
          </a:xfrm>
          <a:prstGeom prst="line">
            <a:avLst/>
          </a:prstGeom>
          <a:ln w="38100">
            <a:solidFill>
              <a:srgbClr val="087B45"/>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087B45"/>
                </a:solidFill>
                <a:latin typeface="Arial"/>
              </a:rPr>
              <a:t>THE PROBLEM</a:t>
            </a:r>
          </a:p>
        </p:txBody>
      </p:sp>
      <p:sp>
        <p:nvSpPr>
          <p:cNvPr id="4" name="slide-title"/>
          <p:cNvSpPr txBox="1"/>
          <p:nvPr/>
        </p:nvSpPr>
        <p:spPr>
          <a:xfrm>
            <a:off x="658368" y="868680"/>
            <a:ext cx="13313664" cy="692023"/>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14231D"/>
                </a:solidFill>
                <a:latin typeface="Arial"/>
              </a:rPr>
              <a:t>Two routes. Two different rides.</a:t>
            </a:r>
          </a:p>
        </p:txBody>
      </p:sp>
      <p:sp>
        <p:nvSpPr>
          <p:cNvPr id="5" name="text"/>
          <p:cNvSpPr txBox="1"/>
          <p:nvPr/>
        </p:nvSpPr>
        <p:spPr>
          <a:xfrm>
            <a:off x="658368" y="1664208"/>
            <a:ext cx="13258800" cy="420624"/>
          </a:xfrm>
          <a:prstGeom prst="rect">
            <a:avLst/>
          </a:prstGeom>
          <a:noFill/>
        </p:spPr>
        <p:txBody>
          <a:bodyPr wrap="none" lIns="0" rIns="0" tIns="0" bIns="0" anchor="t">
            <a:spAutoFit/>
          </a:bodyPr>
          <a:lstStyle/>
          <a:p>
            <a:pPr algn="l">
              <a:lnSpc>
                <a:spcPts val="2415"/>
              </a:lnSpc>
              <a:spcBef>
                <a:spcPts val="0"/>
              </a:spcBef>
              <a:spcAft>
                <a:spcPts val="0"/>
              </a:spcAft>
            </a:pPr>
            <a:r>
              <a:rPr sz="2100" b="0">
                <a:solidFill>
                  <a:srgbClr val="607068"/>
                </a:solidFill>
                <a:latin typeface="Arial"/>
              </a:rPr>
              <a:t>Similar distance and time can hide very different conditions.</a:t>
            </a:r>
          </a:p>
        </p:txBody>
      </p:sp>
      <p:cxnSp>
        <p:nvCxnSpPr>
          <p:cNvPr id="6" name="line"/>
          <p:cNvCxnSpPr/>
          <p:nvPr/>
        </p:nvCxnSpPr>
        <p:spPr>
          <a:xfrm>
            <a:off x="658368" y="7754112"/>
            <a:ext cx="13313664" cy="0"/>
          </a:xfrm>
          <a:prstGeom prst="line">
            <a:avLst/>
          </a:prstGeom>
          <a:ln w="10160">
            <a:solidFill>
              <a:srgbClr val="D9E2D9"/>
            </a:solidFill>
          </a:ln>
        </p:spPr>
        <p:style>
          <a:lnRef idx="2">
            <a:schemeClr val="accent1"/>
          </a:lnRef>
          <a:fillRef idx="0">
            <a:schemeClr val="accent1"/>
          </a:fillRef>
          <a:effectRef idx="1">
            <a:schemeClr val="accent1"/>
          </a:effectRef>
          <a:fontRef idx="minor">
            <a:schemeClr val="tx1"/>
          </a:fontRef>
        </p:style>
      </p:cxnSp>
      <p:sp>
        <p:nvSpPr>
          <p:cNvPr id="7"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607068"/>
                </a:solidFill>
                <a:latin typeface="Arial"/>
              </a:rPr>
              <a:t>BiKing  /  HackYeah 2026</a:t>
            </a:r>
          </a:p>
        </p:txBody>
      </p:sp>
      <p:sp>
        <p:nvSpPr>
          <p:cNvPr id="8"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607068"/>
                </a:solidFill>
                <a:latin typeface="Arial"/>
              </a:rPr>
              <a:t>02 / 10</a:t>
            </a:r>
          </a:p>
        </p:txBody>
      </p:sp>
      <p:sp>
        <p:nvSpPr>
          <p:cNvPr id="9" name="card-shadow"/>
          <p:cNvSpPr/>
          <p:nvPr/>
        </p:nvSpPr>
        <p:spPr>
          <a:xfrm>
            <a:off x="694944" y="2395728"/>
            <a:ext cx="6172200" cy="4087368"/>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cNvSpPr/>
          <p:nvPr/>
        </p:nvSpPr>
        <p:spPr>
          <a:xfrm>
            <a:off x="658368" y="2340864"/>
            <a:ext cx="6172200" cy="4087368"/>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shadow"/>
          <p:cNvSpPr/>
          <p:nvPr/>
        </p:nvSpPr>
        <p:spPr>
          <a:xfrm>
            <a:off x="7168896" y="2395728"/>
            <a:ext cx="6839712" cy="4087368"/>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d"/>
          <p:cNvSpPr/>
          <p:nvPr/>
        </p:nvSpPr>
        <p:spPr>
          <a:xfrm>
            <a:off x="7132320" y="2340864"/>
            <a:ext cx="6839712" cy="4087368"/>
          </a:xfrm>
          <a:prstGeom prst="roundRect">
            <a:avLst>
              <a:gd name="adj" fmla="val 12000"/>
            </a:avLst>
          </a:prstGeom>
          <a:solidFill>
            <a:srgbClr val="E4F3E7"/>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969264" y="2651760"/>
            <a:ext cx="5532120" cy="347472"/>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607068"/>
                </a:solidFill>
                <a:latin typeface="Arial"/>
              </a:rPr>
              <a:t>THE USUAL COMPARISON</a:t>
            </a:r>
          </a:p>
        </p:txBody>
      </p:sp>
      <p:sp>
        <p:nvSpPr>
          <p:cNvPr id="14" name="text"/>
          <p:cNvSpPr txBox="1"/>
          <p:nvPr/>
        </p:nvSpPr>
        <p:spPr>
          <a:xfrm>
            <a:off x="978408" y="3355848"/>
            <a:ext cx="5440680" cy="1527048"/>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14231D"/>
                </a:solidFill>
                <a:latin typeface="Arial"/>
              </a:rPr>
              <a:t>How far?</a:t>
            </a:r>
          </a:p>
          <a:p>
            <a:pPr algn="l">
              <a:lnSpc>
                <a:spcPts val="4945"/>
              </a:lnSpc>
              <a:spcBef>
                <a:spcPts val="0"/>
              </a:spcBef>
              <a:spcAft>
                <a:spcPts val="0"/>
              </a:spcAft>
            </a:pPr>
            <a:r>
              <a:rPr sz="4300" b="1">
                <a:solidFill>
                  <a:srgbClr val="14231D"/>
                </a:solidFill>
                <a:latin typeface="Arial"/>
              </a:rPr>
              <a:t>How long?</a:t>
            </a:r>
          </a:p>
        </p:txBody>
      </p:sp>
      <p:sp>
        <p:nvSpPr>
          <p:cNvPr id="15" name="text"/>
          <p:cNvSpPr txBox="1"/>
          <p:nvPr/>
        </p:nvSpPr>
        <p:spPr>
          <a:xfrm>
            <a:off x="978408" y="5541264"/>
            <a:ext cx="5440680" cy="411480"/>
          </a:xfrm>
          <a:prstGeom prst="rect">
            <a:avLst/>
          </a:prstGeom>
          <a:noFill/>
        </p:spPr>
        <p:txBody>
          <a:bodyPr wrap="none" lIns="0" rIns="0" tIns="0" bIns="0" anchor="t">
            <a:spAutoFit/>
          </a:bodyPr>
          <a:lstStyle/>
          <a:p>
            <a:pPr algn="l">
              <a:lnSpc>
                <a:spcPts val="2645"/>
              </a:lnSpc>
              <a:spcBef>
                <a:spcPts val="0"/>
              </a:spcBef>
              <a:spcAft>
                <a:spcPts val="0"/>
              </a:spcAft>
            </a:pPr>
            <a:r>
              <a:rPr sz="2300" b="0">
                <a:solidFill>
                  <a:srgbClr val="607068"/>
                </a:solidFill>
                <a:latin typeface="Arial"/>
              </a:rPr>
              <a:t>Distance and travel time</a:t>
            </a:r>
          </a:p>
        </p:txBody>
      </p:sp>
      <p:sp>
        <p:nvSpPr>
          <p:cNvPr id="16" name="text"/>
          <p:cNvSpPr txBox="1"/>
          <p:nvPr/>
        </p:nvSpPr>
        <p:spPr>
          <a:xfrm>
            <a:off x="7452360" y="2651760"/>
            <a:ext cx="6126480" cy="347472"/>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THE CONDITIONS OF THE RIDE</a:t>
            </a:r>
          </a:p>
        </p:txBody>
      </p:sp>
      <p:sp>
        <p:nvSpPr>
          <p:cNvPr id="17" name="shape"/>
          <p:cNvSpPr/>
          <p:nvPr/>
        </p:nvSpPr>
        <p:spPr>
          <a:xfrm>
            <a:off x="7452360" y="3328416"/>
            <a:ext cx="2816352" cy="10607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7635240" y="3465576"/>
            <a:ext cx="2459736" cy="438912"/>
          </a:xfrm>
          <a:prstGeom prst="rect">
            <a:avLst/>
          </a:prstGeom>
          <a:noFill/>
        </p:spPr>
        <p:txBody>
          <a:bodyPr wrap="none" lIns="0" rIns="0" tIns="0" bIns="0" anchor="t">
            <a:spAutoFit/>
          </a:bodyPr>
          <a:lstStyle/>
          <a:p>
            <a:pPr algn="l">
              <a:lnSpc>
                <a:spcPts val="3104"/>
              </a:lnSpc>
              <a:spcBef>
                <a:spcPts val="0"/>
              </a:spcBef>
              <a:spcAft>
                <a:spcPts val="0"/>
              </a:spcAft>
            </a:pPr>
            <a:r>
              <a:rPr sz="2700" b="1">
                <a:solidFill>
                  <a:srgbClr val="087B45"/>
                </a:solidFill>
                <a:latin typeface="Arial"/>
              </a:rPr>
              <a:t>Air</a:t>
            </a:r>
          </a:p>
        </p:txBody>
      </p:sp>
      <p:sp>
        <p:nvSpPr>
          <p:cNvPr id="19" name="text"/>
          <p:cNvSpPr txBox="1"/>
          <p:nvPr/>
        </p:nvSpPr>
        <p:spPr>
          <a:xfrm>
            <a:off x="7635240" y="4005072"/>
            <a:ext cx="2468880" cy="292608"/>
          </a:xfrm>
          <a:prstGeom prst="rect">
            <a:avLst/>
          </a:prstGeom>
          <a:noFill/>
        </p:spPr>
        <p:txBody>
          <a:bodyPr wrap="none" lIns="0" rIns="0" tIns="0" bIns="0" anchor="t">
            <a:spAutoFit/>
          </a:bodyPr>
          <a:lstStyle/>
          <a:p>
            <a:pPr algn="l">
              <a:lnSpc>
                <a:spcPts val="1897"/>
              </a:lnSpc>
              <a:spcBef>
                <a:spcPts val="0"/>
              </a:spcBef>
              <a:spcAft>
                <a:spcPts val="0"/>
              </a:spcAft>
            </a:pPr>
            <a:r>
              <a:rPr sz="1650" b="0">
                <a:solidFill>
                  <a:srgbClr val="607068"/>
                </a:solidFill>
                <a:latin typeface="Arial"/>
              </a:rPr>
              <a:t>PM2.5 · PM10 · NO₂</a:t>
            </a:r>
          </a:p>
        </p:txBody>
      </p:sp>
      <p:sp>
        <p:nvSpPr>
          <p:cNvPr id="20" name="shape"/>
          <p:cNvSpPr/>
          <p:nvPr/>
        </p:nvSpPr>
        <p:spPr>
          <a:xfrm>
            <a:off x="10579608" y="3328416"/>
            <a:ext cx="2816352" cy="10607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p:cNvSpPr txBox="1"/>
          <p:nvPr/>
        </p:nvSpPr>
        <p:spPr>
          <a:xfrm>
            <a:off x="10762488" y="3465576"/>
            <a:ext cx="2459736" cy="438912"/>
          </a:xfrm>
          <a:prstGeom prst="rect">
            <a:avLst/>
          </a:prstGeom>
          <a:noFill/>
        </p:spPr>
        <p:txBody>
          <a:bodyPr wrap="none" lIns="0" rIns="0" tIns="0" bIns="0" anchor="t">
            <a:spAutoFit/>
          </a:bodyPr>
          <a:lstStyle/>
          <a:p>
            <a:pPr algn="l">
              <a:lnSpc>
                <a:spcPts val="3104"/>
              </a:lnSpc>
              <a:spcBef>
                <a:spcPts val="0"/>
              </a:spcBef>
              <a:spcAft>
                <a:spcPts val="0"/>
              </a:spcAft>
            </a:pPr>
            <a:r>
              <a:rPr sz="2700" b="1">
                <a:solidFill>
                  <a:srgbClr val="087B45"/>
                </a:solidFill>
                <a:latin typeface="Arial"/>
              </a:rPr>
              <a:t>Heat</a:t>
            </a:r>
          </a:p>
        </p:txBody>
      </p:sp>
      <p:sp>
        <p:nvSpPr>
          <p:cNvPr id="22" name="text"/>
          <p:cNvSpPr txBox="1"/>
          <p:nvPr/>
        </p:nvSpPr>
        <p:spPr>
          <a:xfrm>
            <a:off x="10762488" y="4005072"/>
            <a:ext cx="2468880" cy="292608"/>
          </a:xfrm>
          <a:prstGeom prst="rect">
            <a:avLst/>
          </a:prstGeom>
          <a:noFill/>
        </p:spPr>
        <p:txBody>
          <a:bodyPr wrap="none" lIns="0" rIns="0" tIns="0" bIns="0" anchor="t">
            <a:spAutoFit/>
          </a:bodyPr>
          <a:lstStyle/>
          <a:p>
            <a:pPr algn="l">
              <a:lnSpc>
                <a:spcPts val="1897"/>
              </a:lnSpc>
              <a:spcBef>
                <a:spcPts val="0"/>
              </a:spcBef>
              <a:spcAft>
                <a:spcPts val="0"/>
              </a:spcAft>
            </a:pPr>
            <a:r>
              <a:rPr sz="1650" b="0">
                <a:solidFill>
                  <a:srgbClr val="607068"/>
                </a:solidFill>
                <a:latin typeface="Arial"/>
              </a:rPr>
              <a:t>Felt temperature / UTCI</a:t>
            </a:r>
          </a:p>
        </p:txBody>
      </p:sp>
      <p:sp>
        <p:nvSpPr>
          <p:cNvPr id="23" name="shape"/>
          <p:cNvSpPr/>
          <p:nvPr/>
        </p:nvSpPr>
        <p:spPr>
          <a:xfrm>
            <a:off x="7452360" y="4608576"/>
            <a:ext cx="2816352" cy="10607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7635240" y="4745736"/>
            <a:ext cx="2459736" cy="438912"/>
          </a:xfrm>
          <a:prstGeom prst="rect">
            <a:avLst/>
          </a:prstGeom>
          <a:noFill/>
        </p:spPr>
        <p:txBody>
          <a:bodyPr wrap="none" lIns="0" rIns="0" tIns="0" bIns="0" anchor="t">
            <a:spAutoFit/>
          </a:bodyPr>
          <a:lstStyle/>
          <a:p>
            <a:pPr algn="l">
              <a:lnSpc>
                <a:spcPts val="3104"/>
              </a:lnSpc>
              <a:spcBef>
                <a:spcPts val="0"/>
              </a:spcBef>
              <a:spcAft>
                <a:spcPts val="0"/>
              </a:spcAft>
            </a:pPr>
            <a:r>
              <a:rPr sz="2700" b="1">
                <a:solidFill>
                  <a:srgbClr val="087B45"/>
                </a:solidFill>
                <a:latin typeface="Arial"/>
              </a:rPr>
              <a:t>UV</a:t>
            </a:r>
          </a:p>
        </p:txBody>
      </p:sp>
      <p:sp>
        <p:nvSpPr>
          <p:cNvPr id="25" name="text"/>
          <p:cNvSpPr txBox="1"/>
          <p:nvPr/>
        </p:nvSpPr>
        <p:spPr>
          <a:xfrm>
            <a:off x="7635240" y="5285232"/>
            <a:ext cx="2468880" cy="292608"/>
          </a:xfrm>
          <a:prstGeom prst="rect">
            <a:avLst/>
          </a:prstGeom>
          <a:noFill/>
        </p:spPr>
        <p:txBody>
          <a:bodyPr wrap="none" lIns="0" rIns="0" tIns="0" bIns="0" anchor="t">
            <a:spAutoFit/>
          </a:bodyPr>
          <a:lstStyle/>
          <a:p>
            <a:pPr algn="l">
              <a:lnSpc>
                <a:spcPts val="1897"/>
              </a:lnSpc>
              <a:spcBef>
                <a:spcPts val="0"/>
              </a:spcBef>
              <a:spcAft>
                <a:spcPts val="0"/>
              </a:spcAft>
            </a:pPr>
            <a:r>
              <a:rPr sz="1650" b="0">
                <a:solidFill>
                  <a:srgbClr val="607068"/>
                </a:solidFill>
                <a:latin typeface="Arial"/>
              </a:rPr>
              <a:t>Shade-adjusted UV</a:t>
            </a:r>
          </a:p>
        </p:txBody>
      </p:sp>
      <p:sp>
        <p:nvSpPr>
          <p:cNvPr id="26" name="shape"/>
          <p:cNvSpPr/>
          <p:nvPr/>
        </p:nvSpPr>
        <p:spPr>
          <a:xfrm>
            <a:off x="10579608" y="4608576"/>
            <a:ext cx="2816352" cy="10607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10762488" y="4745736"/>
            <a:ext cx="2459736" cy="438912"/>
          </a:xfrm>
          <a:prstGeom prst="rect">
            <a:avLst/>
          </a:prstGeom>
          <a:noFill/>
        </p:spPr>
        <p:txBody>
          <a:bodyPr wrap="none" lIns="0" rIns="0" tIns="0" bIns="0" anchor="t">
            <a:spAutoFit/>
          </a:bodyPr>
          <a:lstStyle/>
          <a:p>
            <a:pPr algn="l">
              <a:lnSpc>
                <a:spcPts val="3104"/>
              </a:lnSpc>
              <a:spcBef>
                <a:spcPts val="0"/>
              </a:spcBef>
              <a:spcAft>
                <a:spcPts val="0"/>
              </a:spcAft>
            </a:pPr>
            <a:r>
              <a:rPr sz="2700" b="1">
                <a:solidFill>
                  <a:srgbClr val="087B45"/>
                </a:solidFill>
                <a:latin typeface="Arial"/>
              </a:rPr>
              <a:t>Shade</a:t>
            </a:r>
          </a:p>
        </p:txBody>
      </p:sp>
      <p:sp>
        <p:nvSpPr>
          <p:cNvPr id="28" name="text"/>
          <p:cNvSpPr txBox="1"/>
          <p:nvPr/>
        </p:nvSpPr>
        <p:spPr>
          <a:xfrm>
            <a:off x="10762488" y="5285232"/>
            <a:ext cx="2468880" cy="292608"/>
          </a:xfrm>
          <a:prstGeom prst="rect">
            <a:avLst/>
          </a:prstGeom>
          <a:noFill/>
        </p:spPr>
        <p:txBody>
          <a:bodyPr wrap="none" lIns="0" rIns="0" tIns="0" bIns="0" anchor="t">
            <a:spAutoFit/>
          </a:bodyPr>
          <a:lstStyle/>
          <a:p>
            <a:pPr algn="l">
              <a:lnSpc>
                <a:spcPts val="1897"/>
              </a:lnSpc>
              <a:spcBef>
                <a:spcPts val="0"/>
              </a:spcBef>
              <a:spcAft>
                <a:spcPts val="0"/>
              </a:spcAft>
            </a:pPr>
            <a:r>
              <a:rPr sz="1650" b="0">
                <a:solidFill>
                  <a:srgbClr val="607068"/>
                </a:solidFill>
                <a:latin typeface="Arial"/>
              </a:rPr>
              <a:t>Buildings + trees</a:t>
            </a:r>
          </a:p>
        </p:txBody>
      </p:sp>
      <p:sp>
        <p:nvSpPr>
          <p:cNvPr id="29" name="text"/>
          <p:cNvSpPr txBox="1"/>
          <p:nvPr/>
        </p:nvSpPr>
        <p:spPr>
          <a:xfrm>
            <a:off x="658368" y="6848856"/>
            <a:ext cx="13313664" cy="548640"/>
          </a:xfrm>
          <a:prstGeom prst="rect">
            <a:avLst/>
          </a:prstGeom>
          <a:noFill/>
        </p:spPr>
        <p:txBody>
          <a:bodyPr wrap="none" lIns="0" rIns="0" tIns="0" bIns="0" anchor="t">
            <a:spAutoFit/>
          </a:bodyPr>
          <a:lstStyle/>
          <a:p>
            <a:pPr algn="l">
              <a:lnSpc>
                <a:spcPts val="3334"/>
              </a:lnSpc>
              <a:spcBef>
                <a:spcPts val="0"/>
              </a:spcBef>
              <a:spcAft>
                <a:spcPts val="0"/>
              </a:spcAft>
            </a:pPr>
            <a:r>
              <a:rPr sz="2900" b="1">
                <a:solidFill>
                  <a:srgbClr val="14231D"/>
                </a:solidFill>
                <a:latin typeface="Arial"/>
              </a:rPr>
              <a:t>A route is also an environmental exposure.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087B45"/>
                </a:solidFill>
                <a:latin typeface="Arial"/>
              </a:rPr>
              <a:t>THE PRODUCT</a:t>
            </a:r>
          </a:p>
        </p:txBody>
      </p:sp>
      <p:sp>
        <p:nvSpPr>
          <p:cNvPr id="4" name="slide-title"/>
          <p:cNvSpPr txBox="1"/>
          <p:nvPr/>
        </p:nvSpPr>
        <p:spPr>
          <a:xfrm>
            <a:off x="658368" y="868680"/>
            <a:ext cx="13313664" cy="692023"/>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14231D"/>
                </a:solidFill>
                <a:latin typeface="Arial"/>
              </a:rPr>
              <a:t>From A to B, with context.</a:t>
            </a:r>
          </a:p>
        </p:txBody>
      </p:sp>
      <p:cxnSp>
        <p:nvCxnSpPr>
          <p:cNvPr id="5" name="line"/>
          <p:cNvCxnSpPr/>
          <p:nvPr/>
        </p:nvCxnSpPr>
        <p:spPr>
          <a:xfrm>
            <a:off x="658368" y="7754112"/>
            <a:ext cx="13313664" cy="0"/>
          </a:xfrm>
          <a:prstGeom prst="line">
            <a:avLst/>
          </a:prstGeom>
          <a:ln w="10160">
            <a:solidFill>
              <a:srgbClr val="D9E2D9"/>
            </a:solidFill>
          </a:ln>
        </p:spPr>
        <p:style>
          <a:lnRef idx="2">
            <a:schemeClr val="accent1"/>
          </a:lnRef>
          <a:fillRef idx="0">
            <a:schemeClr val="accent1"/>
          </a:fillRef>
          <a:effectRef idx="1">
            <a:schemeClr val="accent1"/>
          </a:effectRef>
          <a:fontRef idx="minor">
            <a:schemeClr val="tx1"/>
          </a:fontRef>
        </p:style>
      </p:cxnSp>
      <p:sp>
        <p:nvSpPr>
          <p:cNvPr id="6"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607068"/>
                </a:solidFill>
                <a:latin typeface="Arial"/>
              </a:rPr>
              <a:t>BiKing  /  HackYeah 2026</a:t>
            </a:r>
          </a:p>
        </p:txBody>
      </p:sp>
      <p:sp>
        <p:nvSpPr>
          <p:cNvPr id="7"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607068"/>
                </a:solidFill>
                <a:latin typeface="Arial"/>
              </a:rPr>
              <a:t>03 / 10</a:t>
            </a:r>
          </a:p>
        </p:txBody>
      </p:sp>
      <p:cxnSp>
        <p:nvCxnSpPr>
          <p:cNvPr id="8" name="line"/>
          <p:cNvCxnSpPr/>
          <p:nvPr/>
        </p:nvCxnSpPr>
        <p:spPr>
          <a:xfrm>
            <a:off x="873252" y="2450592"/>
            <a:ext cx="0" cy="612648"/>
          </a:xfrm>
          <a:prstGeom prst="line">
            <a:avLst/>
          </a:prstGeom>
          <a:ln w="25400">
            <a:solidFill>
              <a:srgbClr val="D9E2D9"/>
            </a:solidFill>
          </a:ln>
        </p:spPr>
        <p:style>
          <a:lnRef idx="2">
            <a:schemeClr val="accent1"/>
          </a:lnRef>
          <a:fillRef idx="0">
            <a:schemeClr val="accent1"/>
          </a:fillRef>
          <a:effectRef idx="1">
            <a:schemeClr val="accent1"/>
          </a:effectRef>
          <a:fontRef idx="minor">
            <a:schemeClr val="tx1"/>
          </a:fontRef>
        </p:style>
      </p:cxnSp>
      <p:sp>
        <p:nvSpPr>
          <p:cNvPr id="9" name="shape"/>
          <p:cNvSpPr/>
          <p:nvPr/>
        </p:nvSpPr>
        <p:spPr>
          <a:xfrm>
            <a:off x="658368" y="2057400"/>
            <a:ext cx="429768" cy="429768"/>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58368" y="2125980"/>
            <a:ext cx="429768" cy="283464"/>
          </a:xfrm>
          <a:prstGeom prst="rect">
            <a:avLst/>
          </a:prstGeom>
          <a:noFill/>
        </p:spPr>
        <p:txBody>
          <a:bodyPr wrap="none" lIns="0" rIns="0" tIns="0" bIns="0" anchor="t">
            <a:spAutoFit/>
          </a:bodyPr>
          <a:lstStyle/>
          <a:p>
            <a:pPr algn="ctr">
              <a:lnSpc>
                <a:spcPts val="2070"/>
              </a:lnSpc>
              <a:spcBef>
                <a:spcPts val="0"/>
              </a:spcBef>
              <a:spcAft>
                <a:spcPts val="0"/>
              </a:spcAft>
            </a:pPr>
            <a:r>
              <a:rPr sz="1800" b="1">
                <a:solidFill>
                  <a:srgbClr val="FFFFFF"/>
                </a:solidFill>
                <a:latin typeface="Arial"/>
              </a:rPr>
              <a:t>1</a:t>
            </a:r>
          </a:p>
        </p:txBody>
      </p:sp>
      <p:sp>
        <p:nvSpPr>
          <p:cNvPr id="11" name="text"/>
          <p:cNvSpPr txBox="1"/>
          <p:nvPr/>
        </p:nvSpPr>
        <p:spPr>
          <a:xfrm>
            <a:off x="1307592" y="2066543"/>
            <a:ext cx="3383280" cy="384048"/>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14231D"/>
                </a:solidFill>
                <a:latin typeface="Arial"/>
              </a:rPr>
              <a:t>Choose points</a:t>
            </a:r>
          </a:p>
        </p:txBody>
      </p:sp>
      <p:sp>
        <p:nvSpPr>
          <p:cNvPr id="12" name="text"/>
          <p:cNvSpPr txBox="1"/>
          <p:nvPr/>
        </p:nvSpPr>
        <p:spPr>
          <a:xfrm>
            <a:off x="1307592" y="2496312"/>
            <a:ext cx="3383280" cy="640080"/>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Start, destination</a:t>
            </a:r>
          </a:p>
          <a:p>
            <a:pPr algn="l">
              <a:lnSpc>
                <a:spcPts val="2070"/>
              </a:lnSpc>
              <a:spcBef>
                <a:spcPts val="0"/>
              </a:spcBef>
              <a:spcAft>
                <a:spcPts val="0"/>
              </a:spcAft>
            </a:pPr>
            <a:r>
              <a:rPr sz="1800" b="0">
                <a:solidFill>
                  <a:srgbClr val="607068"/>
                </a:solidFill>
                <a:latin typeface="Arial"/>
              </a:rPr>
              <a:t>+ optional via points</a:t>
            </a:r>
          </a:p>
        </p:txBody>
      </p:sp>
      <p:cxnSp>
        <p:nvCxnSpPr>
          <p:cNvPr id="13" name="line"/>
          <p:cNvCxnSpPr/>
          <p:nvPr/>
        </p:nvCxnSpPr>
        <p:spPr>
          <a:xfrm>
            <a:off x="873252" y="3483864"/>
            <a:ext cx="0" cy="612648"/>
          </a:xfrm>
          <a:prstGeom prst="line">
            <a:avLst/>
          </a:prstGeom>
          <a:ln w="25400">
            <a:solidFill>
              <a:srgbClr val="D9E2D9"/>
            </a:solidFill>
          </a:ln>
        </p:spPr>
        <p:style>
          <a:lnRef idx="2">
            <a:schemeClr val="accent1"/>
          </a:lnRef>
          <a:fillRef idx="0">
            <a:schemeClr val="accent1"/>
          </a:fillRef>
          <a:effectRef idx="1">
            <a:schemeClr val="accent1"/>
          </a:effectRef>
          <a:fontRef idx="minor">
            <a:schemeClr val="tx1"/>
          </a:fontRef>
        </p:style>
      </p:cxnSp>
      <p:sp>
        <p:nvSpPr>
          <p:cNvPr id="14" name="shape"/>
          <p:cNvSpPr/>
          <p:nvPr/>
        </p:nvSpPr>
        <p:spPr>
          <a:xfrm>
            <a:off x="658368" y="3090672"/>
            <a:ext cx="429768" cy="429768"/>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658368" y="3159252"/>
            <a:ext cx="429768" cy="283464"/>
          </a:xfrm>
          <a:prstGeom prst="rect">
            <a:avLst/>
          </a:prstGeom>
          <a:noFill/>
        </p:spPr>
        <p:txBody>
          <a:bodyPr wrap="none" lIns="0" rIns="0" tIns="0" bIns="0" anchor="t">
            <a:spAutoFit/>
          </a:bodyPr>
          <a:lstStyle/>
          <a:p>
            <a:pPr algn="ctr">
              <a:lnSpc>
                <a:spcPts val="2070"/>
              </a:lnSpc>
              <a:spcBef>
                <a:spcPts val="0"/>
              </a:spcBef>
              <a:spcAft>
                <a:spcPts val="0"/>
              </a:spcAft>
            </a:pPr>
            <a:r>
              <a:rPr sz="1800" b="1">
                <a:solidFill>
                  <a:srgbClr val="FFFFFF"/>
                </a:solidFill>
                <a:latin typeface="Arial"/>
              </a:rPr>
              <a:t>2</a:t>
            </a:r>
          </a:p>
        </p:txBody>
      </p:sp>
      <p:sp>
        <p:nvSpPr>
          <p:cNvPr id="16" name="text"/>
          <p:cNvSpPr txBox="1"/>
          <p:nvPr/>
        </p:nvSpPr>
        <p:spPr>
          <a:xfrm>
            <a:off x="1307592" y="3099815"/>
            <a:ext cx="3383280" cy="384048"/>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14231D"/>
                </a:solidFill>
                <a:latin typeface="Arial"/>
              </a:rPr>
              <a:t>Set context</a:t>
            </a:r>
          </a:p>
        </p:txBody>
      </p:sp>
      <p:sp>
        <p:nvSpPr>
          <p:cNvPr id="17" name="text"/>
          <p:cNvSpPr txBox="1"/>
          <p:nvPr/>
        </p:nvSpPr>
        <p:spPr>
          <a:xfrm>
            <a:off x="1307592" y="3529584"/>
            <a:ext cx="3383280" cy="640080"/>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Scenario, departure time</a:t>
            </a:r>
          </a:p>
          <a:p>
            <a:pPr algn="l">
              <a:lnSpc>
                <a:spcPts val="2070"/>
              </a:lnSpc>
              <a:spcBef>
                <a:spcPts val="0"/>
              </a:spcBef>
              <a:spcAft>
                <a:spcPts val="0"/>
              </a:spcAft>
            </a:pPr>
            <a:r>
              <a:rPr sz="1800" b="0">
                <a:solidFill>
                  <a:srgbClr val="607068"/>
                </a:solidFill>
                <a:latin typeface="Arial"/>
              </a:rPr>
              <a:t>and rider profile</a:t>
            </a:r>
          </a:p>
        </p:txBody>
      </p:sp>
      <p:cxnSp>
        <p:nvCxnSpPr>
          <p:cNvPr id="18" name="line"/>
          <p:cNvCxnSpPr/>
          <p:nvPr/>
        </p:nvCxnSpPr>
        <p:spPr>
          <a:xfrm>
            <a:off x="873252" y="4517136"/>
            <a:ext cx="0" cy="612647"/>
          </a:xfrm>
          <a:prstGeom prst="line">
            <a:avLst/>
          </a:prstGeom>
          <a:ln w="25400">
            <a:solidFill>
              <a:srgbClr val="D9E2D9"/>
            </a:solidFill>
          </a:ln>
        </p:spPr>
        <p:style>
          <a:lnRef idx="2">
            <a:schemeClr val="accent1"/>
          </a:lnRef>
          <a:fillRef idx="0">
            <a:schemeClr val="accent1"/>
          </a:fillRef>
          <a:effectRef idx="1">
            <a:schemeClr val="accent1"/>
          </a:effectRef>
          <a:fontRef idx="minor">
            <a:schemeClr val="tx1"/>
          </a:fontRef>
        </p:style>
      </p:cxnSp>
      <p:sp>
        <p:nvSpPr>
          <p:cNvPr id="19" name="shape"/>
          <p:cNvSpPr/>
          <p:nvPr/>
        </p:nvSpPr>
        <p:spPr>
          <a:xfrm>
            <a:off x="658368" y="4123944"/>
            <a:ext cx="429768" cy="429768"/>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p:cNvSpPr txBox="1"/>
          <p:nvPr/>
        </p:nvSpPr>
        <p:spPr>
          <a:xfrm>
            <a:off x="658368" y="4192524"/>
            <a:ext cx="429768" cy="283464"/>
          </a:xfrm>
          <a:prstGeom prst="rect">
            <a:avLst/>
          </a:prstGeom>
          <a:noFill/>
        </p:spPr>
        <p:txBody>
          <a:bodyPr wrap="none" lIns="0" rIns="0" tIns="0" bIns="0" anchor="t">
            <a:spAutoFit/>
          </a:bodyPr>
          <a:lstStyle/>
          <a:p>
            <a:pPr algn="ctr">
              <a:lnSpc>
                <a:spcPts val="2070"/>
              </a:lnSpc>
              <a:spcBef>
                <a:spcPts val="0"/>
              </a:spcBef>
              <a:spcAft>
                <a:spcPts val="0"/>
              </a:spcAft>
            </a:pPr>
            <a:r>
              <a:rPr sz="1800" b="1">
                <a:solidFill>
                  <a:srgbClr val="FFFFFF"/>
                </a:solidFill>
                <a:latin typeface="Arial"/>
              </a:rPr>
              <a:t>3</a:t>
            </a:r>
          </a:p>
        </p:txBody>
      </p:sp>
      <p:sp>
        <p:nvSpPr>
          <p:cNvPr id="21" name="text"/>
          <p:cNvSpPr txBox="1"/>
          <p:nvPr/>
        </p:nvSpPr>
        <p:spPr>
          <a:xfrm>
            <a:off x="1307592" y="4133087"/>
            <a:ext cx="3383280" cy="384048"/>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14231D"/>
                </a:solidFill>
                <a:latin typeface="Arial"/>
              </a:rPr>
              <a:t>Compare routes</a:t>
            </a:r>
          </a:p>
        </p:txBody>
      </p:sp>
      <p:sp>
        <p:nvSpPr>
          <p:cNvPr id="22" name="text"/>
          <p:cNvSpPr txBox="1"/>
          <p:nvPr/>
        </p:nvSpPr>
        <p:spPr>
          <a:xfrm>
            <a:off x="1307592" y="4562856"/>
            <a:ext cx="3383280" cy="640080"/>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Fastest vs</a:t>
            </a:r>
          </a:p>
          <a:p>
            <a:pPr algn="l">
              <a:lnSpc>
                <a:spcPts val="2070"/>
              </a:lnSpc>
              <a:spcBef>
                <a:spcPts val="0"/>
              </a:spcBef>
              <a:spcAft>
                <a:spcPts val="0"/>
              </a:spcAft>
            </a:pPr>
            <a:r>
              <a:rPr sz="1800" b="0">
                <a:solidFill>
                  <a:srgbClr val="607068"/>
                </a:solidFill>
                <a:latin typeface="Arial"/>
              </a:rPr>
              <a:t>More comfortable</a:t>
            </a:r>
          </a:p>
        </p:txBody>
      </p:sp>
      <p:cxnSp>
        <p:nvCxnSpPr>
          <p:cNvPr id="23" name="line"/>
          <p:cNvCxnSpPr/>
          <p:nvPr/>
        </p:nvCxnSpPr>
        <p:spPr>
          <a:xfrm>
            <a:off x="873252" y="5550407"/>
            <a:ext cx="0" cy="612649"/>
          </a:xfrm>
          <a:prstGeom prst="line">
            <a:avLst/>
          </a:prstGeom>
          <a:ln w="25400">
            <a:solidFill>
              <a:srgbClr val="D9E2D9"/>
            </a:solidFill>
          </a:ln>
        </p:spPr>
        <p:style>
          <a:lnRef idx="2">
            <a:schemeClr val="accent1"/>
          </a:lnRef>
          <a:fillRef idx="0">
            <a:schemeClr val="accent1"/>
          </a:fillRef>
          <a:effectRef idx="1">
            <a:schemeClr val="accent1"/>
          </a:effectRef>
          <a:fontRef idx="minor">
            <a:schemeClr val="tx1"/>
          </a:fontRef>
        </p:style>
      </p:cxnSp>
      <p:sp>
        <p:nvSpPr>
          <p:cNvPr id="24" name="shape"/>
          <p:cNvSpPr/>
          <p:nvPr/>
        </p:nvSpPr>
        <p:spPr>
          <a:xfrm>
            <a:off x="658368" y="5157216"/>
            <a:ext cx="429768" cy="429768"/>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p:cNvSpPr txBox="1"/>
          <p:nvPr/>
        </p:nvSpPr>
        <p:spPr>
          <a:xfrm>
            <a:off x="658368" y="5225796"/>
            <a:ext cx="429768" cy="283464"/>
          </a:xfrm>
          <a:prstGeom prst="rect">
            <a:avLst/>
          </a:prstGeom>
          <a:noFill/>
        </p:spPr>
        <p:txBody>
          <a:bodyPr wrap="none" lIns="0" rIns="0" tIns="0" bIns="0" anchor="t">
            <a:spAutoFit/>
          </a:bodyPr>
          <a:lstStyle/>
          <a:p>
            <a:pPr algn="ctr">
              <a:lnSpc>
                <a:spcPts val="2070"/>
              </a:lnSpc>
              <a:spcBef>
                <a:spcPts val="0"/>
              </a:spcBef>
              <a:spcAft>
                <a:spcPts val="0"/>
              </a:spcAft>
            </a:pPr>
            <a:r>
              <a:rPr sz="1800" b="1">
                <a:solidFill>
                  <a:srgbClr val="FFFFFF"/>
                </a:solidFill>
                <a:latin typeface="Arial"/>
              </a:rPr>
              <a:t>4</a:t>
            </a:r>
          </a:p>
        </p:txBody>
      </p:sp>
      <p:sp>
        <p:nvSpPr>
          <p:cNvPr id="26" name="text"/>
          <p:cNvSpPr txBox="1"/>
          <p:nvPr/>
        </p:nvSpPr>
        <p:spPr>
          <a:xfrm>
            <a:off x="1307592" y="5166359"/>
            <a:ext cx="3383280" cy="384048"/>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14231D"/>
                </a:solidFill>
                <a:latin typeface="Arial"/>
              </a:rPr>
              <a:t>Adjust the trade-off</a:t>
            </a:r>
          </a:p>
        </p:txBody>
      </p:sp>
      <p:sp>
        <p:nvSpPr>
          <p:cNvPr id="27" name="text"/>
          <p:cNvSpPr txBox="1"/>
          <p:nvPr/>
        </p:nvSpPr>
        <p:spPr>
          <a:xfrm>
            <a:off x="1307592" y="5596127"/>
            <a:ext cx="3383280" cy="640080"/>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Choose how much extra</a:t>
            </a:r>
          </a:p>
          <a:p>
            <a:pPr algn="l">
              <a:lnSpc>
                <a:spcPts val="2070"/>
              </a:lnSpc>
              <a:spcBef>
                <a:spcPts val="0"/>
              </a:spcBef>
              <a:spcAft>
                <a:spcPts val="0"/>
              </a:spcAft>
            </a:pPr>
            <a:r>
              <a:rPr sz="1800" b="0">
                <a:solidFill>
                  <a:srgbClr val="607068"/>
                </a:solidFill>
                <a:latin typeface="Arial"/>
              </a:rPr>
              <a:t>time comfort is worth</a:t>
            </a:r>
          </a:p>
        </p:txBody>
      </p:sp>
      <p:sp>
        <p:nvSpPr>
          <p:cNvPr id="28" name="shape"/>
          <p:cNvSpPr/>
          <p:nvPr/>
        </p:nvSpPr>
        <p:spPr>
          <a:xfrm>
            <a:off x="658368" y="6190488"/>
            <a:ext cx="429768" cy="429768"/>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p:cNvSpPr txBox="1"/>
          <p:nvPr/>
        </p:nvSpPr>
        <p:spPr>
          <a:xfrm>
            <a:off x="658368" y="6259068"/>
            <a:ext cx="429768" cy="283464"/>
          </a:xfrm>
          <a:prstGeom prst="rect">
            <a:avLst/>
          </a:prstGeom>
          <a:noFill/>
        </p:spPr>
        <p:txBody>
          <a:bodyPr wrap="none" lIns="0" rIns="0" tIns="0" bIns="0" anchor="t">
            <a:spAutoFit/>
          </a:bodyPr>
          <a:lstStyle/>
          <a:p>
            <a:pPr algn="ctr">
              <a:lnSpc>
                <a:spcPts val="2070"/>
              </a:lnSpc>
              <a:spcBef>
                <a:spcPts val="0"/>
              </a:spcBef>
              <a:spcAft>
                <a:spcPts val="0"/>
              </a:spcAft>
            </a:pPr>
            <a:r>
              <a:rPr sz="1800" b="1">
                <a:solidFill>
                  <a:srgbClr val="FFFFFF"/>
                </a:solidFill>
                <a:latin typeface="Arial"/>
              </a:rPr>
              <a:t>5</a:t>
            </a:r>
          </a:p>
        </p:txBody>
      </p:sp>
      <p:sp>
        <p:nvSpPr>
          <p:cNvPr id="30" name="text"/>
          <p:cNvSpPr txBox="1"/>
          <p:nvPr/>
        </p:nvSpPr>
        <p:spPr>
          <a:xfrm>
            <a:off x="1307592" y="6199631"/>
            <a:ext cx="3383280" cy="384048"/>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14231D"/>
                </a:solidFill>
                <a:latin typeface="Arial"/>
              </a:rPr>
              <a:t>Ride</a:t>
            </a:r>
          </a:p>
        </p:txBody>
      </p:sp>
      <p:sp>
        <p:nvSpPr>
          <p:cNvPr id="31" name="text"/>
          <p:cNvSpPr txBox="1"/>
          <p:nvPr/>
        </p:nvSpPr>
        <p:spPr>
          <a:xfrm>
            <a:off x="1307592" y="6629400"/>
            <a:ext cx="3383280" cy="640080"/>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Export GPX to</a:t>
            </a:r>
          </a:p>
          <a:p>
            <a:pPr algn="l">
              <a:lnSpc>
                <a:spcPts val="2070"/>
              </a:lnSpc>
              <a:spcBef>
                <a:spcPts val="0"/>
              </a:spcBef>
              <a:spcAft>
                <a:spcPts val="0"/>
              </a:spcAft>
            </a:pPr>
            <a:r>
              <a:rPr sz="1800" b="0">
                <a:solidFill>
                  <a:srgbClr val="607068"/>
                </a:solidFill>
                <a:latin typeface="Arial"/>
              </a:rPr>
              <a:t>your cycling app</a:t>
            </a:r>
          </a:p>
        </p:txBody>
      </p:sp>
      <p:sp>
        <p:nvSpPr>
          <p:cNvPr id="32" name="card-shadow"/>
          <p:cNvSpPr/>
          <p:nvPr/>
        </p:nvSpPr>
        <p:spPr>
          <a:xfrm>
            <a:off x="4928616" y="2039112"/>
            <a:ext cx="9079992" cy="5312664"/>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ard"/>
          <p:cNvSpPr/>
          <p:nvPr/>
        </p:nvSpPr>
        <p:spPr>
          <a:xfrm>
            <a:off x="4892040" y="1984248"/>
            <a:ext cx="9079992" cy="5312664"/>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screenshot-main_ui.png" descr="main_ui.png"/>
          <p:cNvPicPr>
            <a:picLocks noChangeAspect="1"/>
          </p:cNvPicPr>
          <p:nvPr/>
        </p:nvPicPr>
        <p:blipFill>
          <a:blip r:embed="rId2"/>
          <a:srcRect t="7276"/>
          <a:stretch>
            <a:fillRect/>
          </a:stretch>
        </p:blipFill>
        <p:spPr>
          <a:xfrm>
            <a:off x="5001768" y="2401703"/>
            <a:ext cx="8860536" cy="447775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087B45"/>
                </a:solidFill>
                <a:latin typeface="Arial"/>
              </a:rPr>
              <a:t>THE SYSTEM</a:t>
            </a:r>
          </a:p>
        </p:txBody>
      </p:sp>
      <p:sp>
        <p:nvSpPr>
          <p:cNvPr id="4" name="slide-title"/>
          <p:cNvSpPr txBox="1"/>
          <p:nvPr/>
        </p:nvSpPr>
        <p:spPr>
          <a:xfrm>
            <a:off x="658368" y="868680"/>
            <a:ext cx="13313664" cy="618997"/>
          </a:xfrm>
          <a:prstGeom prst="rect">
            <a:avLst/>
          </a:prstGeom>
          <a:noFill/>
        </p:spPr>
        <p:txBody>
          <a:bodyPr wrap="none" lIns="0" rIns="0" tIns="0" bIns="0" anchor="t">
            <a:spAutoFit/>
          </a:bodyPr>
          <a:lstStyle/>
          <a:p>
            <a:pPr algn="l">
              <a:lnSpc>
                <a:spcPts val="4370"/>
              </a:lnSpc>
              <a:spcBef>
                <a:spcPts val="0"/>
              </a:spcBef>
              <a:spcAft>
                <a:spcPts val="0"/>
              </a:spcAft>
            </a:pPr>
            <a:r>
              <a:rPr sz="3800" b="1">
                <a:solidFill>
                  <a:srgbClr val="14231D"/>
                </a:solidFill>
                <a:latin typeface="Arial"/>
              </a:rPr>
              <a:t>The city becomes part of the routing model.</a:t>
            </a:r>
          </a:p>
        </p:txBody>
      </p:sp>
      <p:cxnSp>
        <p:nvCxnSpPr>
          <p:cNvPr id="5" name="line"/>
          <p:cNvCxnSpPr/>
          <p:nvPr/>
        </p:nvCxnSpPr>
        <p:spPr>
          <a:xfrm>
            <a:off x="658368" y="7754112"/>
            <a:ext cx="13313664" cy="0"/>
          </a:xfrm>
          <a:prstGeom prst="line">
            <a:avLst/>
          </a:prstGeom>
          <a:ln w="10160">
            <a:solidFill>
              <a:srgbClr val="D9E2D9"/>
            </a:solidFill>
          </a:ln>
        </p:spPr>
        <p:style>
          <a:lnRef idx="2">
            <a:schemeClr val="accent1"/>
          </a:lnRef>
          <a:fillRef idx="0">
            <a:schemeClr val="accent1"/>
          </a:fillRef>
          <a:effectRef idx="1">
            <a:schemeClr val="accent1"/>
          </a:effectRef>
          <a:fontRef idx="minor">
            <a:schemeClr val="tx1"/>
          </a:fontRef>
        </p:style>
      </p:cxnSp>
      <p:sp>
        <p:nvSpPr>
          <p:cNvPr id="6"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607068"/>
                </a:solidFill>
                <a:latin typeface="Arial"/>
              </a:rPr>
              <a:t>BiKing  /  HackYeah 2026</a:t>
            </a:r>
          </a:p>
        </p:txBody>
      </p:sp>
      <p:sp>
        <p:nvSpPr>
          <p:cNvPr id="7"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607068"/>
                </a:solidFill>
                <a:latin typeface="Arial"/>
              </a:rPr>
              <a:t>04 / 10</a:t>
            </a:r>
          </a:p>
        </p:txBody>
      </p:sp>
      <p:sp>
        <p:nvSpPr>
          <p:cNvPr id="8" name="card-shadow"/>
          <p:cNvSpPr/>
          <p:nvPr/>
        </p:nvSpPr>
        <p:spPr>
          <a:xfrm>
            <a:off x="694944" y="2167128"/>
            <a:ext cx="4242816" cy="1746504"/>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p:cNvSpPr/>
          <p:nvPr/>
        </p:nvSpPr>
        <p:spPr>
          <a:xfrm>
            <a:off x="658368" y="2112264"/>
            <a:ext cx="4242816" cy="1746504"/>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877824" y="2350008"/>
            <a:ext cx="3813048" cy="338328"/>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ENVIRONMENT</a:t>
            </a:r>
          </a:p>
        </p:txBody>
      </p:sp>
      <p:sp>
        <p:nvSpPr>
          <p:cNvPr id="11" name="text"/>
          <p:cNvSpPr txBox="1"/>
          <p:nvPr/>
        </p:nvSpPr>
        <p:spPr>
          <a:xfrm>
            <a:off x="877824" y="2779776"/>
            <a:ext cx="3813048" cy="365760"/>
          </a:xfrm>
          <a:prstGeom prst="rect">
            <a:avLst/>
          </a:prstGeom>
          <a:noFill/>
        </p:spPr>
        <p:txBody>
          <a:bodyPr wrap="none" lIns="0" rIns="0" tIns="0" bIns="0" anchor="t">
            <a:spAutoFit/>
          </a:bodyPr>
          <a:lstStyle/>
          <a:p>
            <a:pPr algn="l">
              <a:lnSpc>
                <a:spcPts val="2242"/>
              </a:lnSpc>
              <a:spcBef>
                <a:spcPts val="0"/>
              </a:spcBef>
              <a:spcAft>
                <a:spcPts val="0"/>
              </a:spcAft>
            </a:pPr>
            <a:r>
              <a:rPr sz="1950" b="1">
                <a:solidFill>
                  <a:srgbClr val="14231D"/>
                </a:solidFill>
                <a:latin typeface="Arial"/>
              </a:rPr>
              <a:t>Open-Meteo + GIOŚ</a:t>
            </a:r>
          </a:p>
        </p:txBody>
      </p:sp>
      <p:sp>
        <p:nvSpPr>
          <p:cNvPr id="12" name="text"/>
          <p:cNvSpPr txBox="1"/>
          <p:nvPr/>
        </p:nvSpPr>
        <p:spPr>
          <a:xfrm>
            <a:off x="877824" y="3273552"/>
            <a:ext cx="3813048" cy="630936"/>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Weather · UV</a:t>
            </a:r>
          </a:p>
          <a:p>
            <a:pPr algn="l">
              <a:lnSpc>
                <a:spcPts val="2070"/>
              </a:lnSpc>
              <a:spcBef>
                <a:spcPts val="0"/>
              </a:spcBef>
              <a:spcAft>
                <a:spcPts val="0"/>
              </a:spcAft>
            </a:pPr>
            <a:r>
              <a:rPr sz="1800" b="0">
                <a:solidFill>
                  <a:srgbClr val="607068"/>
                </a:solidFill>
                <a:latin typeface="Arial"/>
              </a:rPr>
              <a:t>PM2.5 · PM10 · NO₂</a:t>
            </a:r>
          </a:p>
        </p:txBody>
      </p:sp>
      <p:cxnSp>
        <p:nvCxnSpPr>
          <p:cNvPr id="13" name="line"/>
          <p:cNvCxnSpPr/>
          <p:nvPr/>
        </p:nvCxnSpPr>
        <p:spPr>
          <a:xfrm>
            <a:off x="2779776" y="3858768"/>
            <a:ext cx="0" cy="301752"/>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sp>
        <p:nvSpPr>
          <p:cNvPr id="14" name="card-shadow"/>
          <p:cNvSpPr/>
          <p:nvPr/>
        </p:nvSpPr>
        <p:spPr>
          <a:xfrm>
            <a:off x="5230368" y="2167128"/>
            <a:ext cx="4242816" cy="1746504"/>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p:cNvSpPr/>
          <p:nvPr/>
        </p:nvSpPr>
        <p:spPr>
          <a:xfrm>
            <a:off x="5193792" y="2112264"/>
            <a:ext cx="4242816" cy="1746504"/>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p:cNvSpPr txBox="1"/>
          <p:nvPr/>
        </p:nvSpPr>
        <p:spPr>
          <a:xfrm>
            <a:off x="5413248" y="2350008"/>
            <a:ext cx="3813048" cy="338328"/>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CITY GEOMETRY</a:t>
            </a:r>
          </a:p>
        </p:txBody>
      </p:sp>
      <p:sp>
        <p:nvSpPr>
          <p:cNvPr id="17" name="text"/>
          <p:cNvSpPr txBox="1"/>
          <p:nvPr/>
        </p:nvSpPr>
        <p:spPr>
          <a:xfrm>
            <a:off x="5413248" y="2779776"/>
            <a:ext cx="3813048" cy="365760"/>
          </a:xfrm>
          <a:prstGeom prst="rect">
            <a:avLst/>
          </a:prstGeom>
          <a:noFill/>
        </p:spPr>
        <p:txBody>
          <a:bodyPr wrap="none" lIns="0" rIns="0" tIns="0" bIns="0" anchor="t">
            <a:spAutoFit/>
          </a:bodyPr>
          <a:lstStyle/>
          <a:p>
            <a:pPr algn="l">
              <a:lnSpc>
                <a:spcPts val="2242"/>
              </a:lnSpc>
              <a:spcBef>
                <a:spcPts val="0"/>
              </a:spcBef>
              <a:spcAft>
                <a:spcPts val="0"/>
              </a:spcAft>
            </a:pPr>
            <a:r>
              <a:rPr sz="1950" b="1">
                <a:solidFill>
                  <a:srgbClr val="14231D"/>
                </a:solidFill>
                <a:latin typeface="Arial"/>
              </a:rPr>
              <a:t>GUGiK LoD1 / OSM / MSIP</a:t>
            </a:r>
          </a:p>
        </p:txBody>
      </p:sp>
      <p:sp>
        <p:nvSpPr>
          <p:cNvPr id="18" name="text"/>
          <p:cNvSpPr txBox="1"/>
          <p:nvPr/>
        </p:nvSpPr>
        <p:spPr>
          <a:xfrm>
            <a:off x="5413248" y="3273552"/>
            <a:ext cx="3813048" cy="630936"/>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Footprints · building heights</a:t>
            </a:r>
          </a:p>
          <a:p>
            <a:pPr algn="l">
              <a:lnSpc>
                <a:spcPts val="2070"/>
              </a:lnSpc>
              <a:spcBef>
                <a:spcPts val="0"/>
              </a:spcBef>
              <a:spcAft>
                <a:spcPts val="0"/>
              </a:spcAft>
            </a:pPr>
            <a:r>
              <a:rPr sz="1800" b="0">
                <a:solidFill>
                  <a:srgbClr val="607068"/>
                </a:solidFill>
                <a:latin typeface="Arial"/>
              </a:rPr>
              <a:t>Tree / green-cover geometry</a:t>
            </a:r>
          </a:p>
        </p:txBody>
      </p:sp>
      <p:cxnSp>
        <p:nvCxnSpPr>
          <p:cNvPr id="19" name="line"/>
          <p:cNvCxnSpPr/>
          <p:nvPr/>
        </p:nvCxnSpPr>
        <p:spPr>
          <a:xfrm>
            <a:off x="7315200" y="3858768"/>
            <a:ext cx="0" cy="301752"/>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sp>
        <p:nvSpPr>
          <p:cNvPr id="20" name="card-shadow"/>
          <p:cNvSpPr/>
          <p:nvPr/>
        </p:nvSpPr>
        <p:spPr>
          <a:xfrm>
            <a:off x="9765792" y="2167128"/>
            <a:ext cx="4242816" cy="1746504"/>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p:cNvSpPr/>
          <p:nvPr/>
        </p:nvSpPr>
        <p:spPr>
          <a:xfrm>
            <a:off x="9729216" y="2112264"/>
            <a:ext cx="4242816" cy="1746504"/>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9948672" y="2350008"/>
            <a:ext cx="3813048" cy="338328"/>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BICYCLE NETWORK</a:t>
            </a:r>
          </a:p>
        </p:txBody>
      </p:sp>
      <p:sp>
        <p:nvSpPr>
          <p:cNvPr id="23" name="text"/>
          <p:cNvSpPr txBox="1"/>
          <p:nvPr/>
        </p:nvSpPr>
        <p:spPr>
          <a:xfrm>
            <a:off x="9948672" y="2779776"/>
            <a:ext cx="3813048" cy="365760"/>
          </a:xfrm>
          <a:prstGeom prst="rect">
            <a:avLst/>
          </a:prstGeom>
          <a:noFill/>
        </p:spPr>
        <p:txBody>
          <a:bodyPr wrap="none" lIns="0" rIns="0" tIns="0" bIns="0" anchor="t">
            <a:spAutoFit/>
          </a:bodyPr>
          <a:lstStyle/>
          <a:p>
            <a:pPr algn="l">
              <a:lnSpc>
                <a:spcPts val="2242"/>
              </a:lnSpc>
              <a:spcBef>
                <a:spcPts val="0"/>
              </a:spcBef>
              <a:spcAft>
                <a:spcPts val="0"/>
              </a:spcAft>
            </a:pPr>
            <a:r>
              <a:rPr sz="1950" b="1">
                <a:solidFill>
                  <a:srgbClr val="14231D"/>
                </a:solidFill>
                <a:latin typeface="Arial"/>
              </a:rPr>
              <a:t>OpenStreetMap</a:t>
            </a:r>
          </a:p>
        </p:txBody>
      </p:sp>
      <p:sp>
        <p:nvSpPr>
          <p:cNvPr id="24" name="text"/>
          <p:cNvSpPr txBox="1"/>
          <p:nvPr/>
        </p:nvSpPr>
        <p:spPr>
          <a:xfrm>
            <a:off x="9948672" y="3273552"/>
            <a:ext cx="3813048" cy="630936"/>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pyosmium → OSMnx</a:t>
            </a:r>
          </a:p>
          <a:p>
            <a:pPr algn="l">
              <a:lnSpc>
                <a:spcPts val="2070"/>
              </a:lnSpc>
              <a:spcBef>
                <a:spcPts val="0"/>
              </a:spcBef>
              <a:spcAft>
                <a:spcPts val="0"/>
              </a:spcAft>
            </a:pPr>
            <a:r>
              <a:rPr sz="1800" b="0">
                <a:solidFill>
                  <a:srgbClr val="607068"/>
                </a:solidFill>
                <a:latin typeface="Arial"/>
              </a:rPr>
              <a:t>Directed streets · road classes</a:t>
            </a:r>
          </a:p>
        </p:txBody>
      </p:sp>
      <p:cxnSp>
        <p:nvCxnSpPr>
          <p:cNvPr id="25" name="line"/>
          <p:cNvCxnSpPr/>
          <p:nvPr/>
        </p:nvCxnSpPr>
        <p:spPr>
          <a:xfrm>
            <a:off x="11850624" y="3858768"/>
            <a:ext cx="0" cy="301752"/>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26" name="line"/>
          <p:cNvCxnSpPr/>
          <p:nvPr/>
        </p:nvCxnSpPr>
        <p:spPr>
          <a:xfrm>
            <a:off x="2779776" y="4160520"/>
            <a:ext cx="9070848" cy="0"/>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27" name="line"/>
          <p:cNvCxnSpPr/>
          <p:nvPr/>
        </p:nvCxnSpPr>
        <p:spPr>
          <a:xfrm>
            <a:off x="4882896" y="4160520"/>
            <a:ext cx="0" cy="274320"/>
          </a:xfrm>
          <a:prstGeom prst="line">
            <a:avLst/>
          </a:prstGeom>
          <a:ln w="21590">
            <a:solidFill>
              <a:srgbClr val="087B45"/>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card-shadow"/>
          <p:cNvSpPr/>
          <p:nvPr/>
        </p:nvSpPr>
        <p:spPr>
          <a:xfrm>
            <a:off x="694944" y="4526279"/>
            <a:ext cx="8421624" cy="1298448"/>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rd"/>
          <p:cNvSpPr/>
          <p:nvPr/>
        </p:nvSpPr>
        <p:spPr>
          <a:xfrm>
            <a:off x="658368" y="4471416"/>
            <a:ext cx="8421624" cy="1298448"/>
          </a:xfrm>
          <a:prstGeom prst="roundRect">
            <a:avLst>
              <a:gd name="adj" fmla="val 12000"/>
            </a:avLst>
          </a:prstGeom>
          <a:solidFill>
            <a:srgbClr val="E4F3E7"/>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932688" y="4672584"/>
            <a:ext cx="7872983" cy="384048"/>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087B45"/>
                </a:solidFill>
                <a:latin typeface="Arial"/>
              </a:rPr>
              <a:t>PER-EDGE EXPOSURE MODEL</a:t>
            </a:r>
          </a:p>
        </p:txBody>
      </p:sp>
      <p:sp>
        <p:nvSpPr>
          <p:cNvPr id="31" name="text"/>
          <p:cNvSpPr txBox="1"/>
          <p:nvPr/>
        </p:nvSpPr>
        <p:spPr>
          <a:xfrm>
            <a:off x="932688" y="5212080"/>
            <a:ext cx="7872983" cy="384048"/>
          </a:xfrm>
          <a:prstGeom prst="rect">
            <a:avLst/>
          </a:prstGeom>
          <a:noFill/>
        </p:spPr>
        <p:txBody>
          <a:bodyPr wrap="none" lIns="0" rIns="0" tIns="0" bIns="0" anchor="t">
            <a:spAutoFit/>
          </a:bodyPr>
          <a:lstStyle/>
          <a:p>
            <a:pPr algn="l">
              <a:lnSpc>
                <a:spcPts val="2185"/>
              </a:lnSpc>
              <a:spcBef>
                <a:spcPts val="0"/>
              </a:spcBef>
              <a:spcAft>
                <a:spcPts val="0"/>
              </a:spcAft>
            </a:pPr>
            <a:r>
              <a:rPr sz="1900" b="0">
                <a:solidFill>
                  <a:srgbClr val="14231D"/>
                </a:solidFill>
                <a:latin typeface="Arial"/>
              </a:rPr>
              <a:t>Shade → UTCI + air index + effective UV → fuzzy discomfort</a:t>
            </a:r>
          </a:p>
        </p:txBody>
      </p:sp>
      <p:sp>
        <p:nvSpPr>
          <p:cNvPr id="32" name="card-shadow"/>
          <p:cNvSpPr/>
          <p:nvPr/>
        </p:nvSpPr>
        <p:spPr>
          <a:xfrm>
            <a:off x="9765792" y="4526279"/>
            <a:ext cx="4242816" cy="1298448"/>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ard"/>
          <p:cNvSpPr/>
          <p:nvPr/>
        </p:nvSpPr>
        <p:spPr>
          <a:xfrm>
            <a:off x="9729216" y="4471416"/>
            <a:ext cx="4242816" cy="1298448"/>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p:cNvSpPr txBox="1"/>
          <p:nvPr/>
        </p:nvSpPr>
        <p:spPr>
          <a:xfrm>
            <a:off x="9976104" y="4690872"/>
            <a:ext cx="3749039" cy="365760"/>
          </a:xfrm>
          <a:prstGeom prst="rect">
            <a:avLst/>
          </a:prstGeom>
          <a:noFill/>
        </p:spPr>
        <p:txBody>
          <a:bodyPr wrap="none" lIns="0" rIns="0" tIns="0" bIns="0" anchor="t">
            <a:spAutoFit/>
          </a:bodyPr>
          <a:lstStyle/>
          <a:p>
            <a:pPr algn="l">
              <a:lnSpc>
                <a:spcPts val="2300"/>
              </a:lnSpc>
              <a:spcBef>
                <a:spcPts val="0"/>
              </a:spcBef>
              <a:spcAft>
                <a:spcPts val="0"/>
              </a:spcAft>
            </a:pPr>
            <a:r>
              <a:rPr sz="2000" b="1">
                <a:solidFill>
                  <a:srgbClr val="087B45"/>
                </a:solidFill>
                <a:latin typeface="Arial"/>
              </a:rPr>
              <a:t>USER CONTEXT</a:t>
            </a:r>
          </a:p>
        </p:txBody>
      </p:sp>
      <p:sp>
        <p:nvSpPr>
          <p:cNvPr id="35" name="text"/>
          <p:cNvSpPr txBox="1"/>
          <p:nvPr/>
        </p:nvSpPr>
        <p:spPr>
          <a:xfrm>
            <a:off x="9976104" y="5239512"/>
            <a:ext cx="3749039" cy="347472"/>
          </a:xfrm>
          <a:prstGeom prst="rect">
            <a:avLst/>
          </a:prstGeom>
          <a:noFill/>
        </p:spPr>
        <p:txBody>
          <a:bodyPr wrap="none" lIns="0" rIns="0" tIns="0" bIns="0" anchor="t">
            <a:spAutoFit/>
          </a:bodyPr>
          <a:lstStyle/>
          <a:p>
            <a:pPr algn="l">
              <a:lnSpc>
                <a:spcPts val="2127"/>
              </a:lnSpc>
              <a:spcBef>
                <a:spcPts val="0"/>
              </a:spcBef>
              <a:spcAft>
                <a:spcPts val="0"/>
              </a:spcAft>
            </a:pPr>
            <a:r>
              <a:rPr sz="1850" b="0">
                <a:solidFill>
                  <a:srgbClr val="607068"/>
                </a:solidFill>
                <a:latin typeface="Arial"/>
              </a:rPr>
              <a:t>Time · profile · selected factors</a:t>
            </a:r>
          </a:p>
        </p:txBody>
      </p:sp>
      <p:cxnSp>
        <p:nvCxnSpPr>
          <p:cNvPr id="36" name="line"/>
          <p:cNvCxnSpPr/>
          <p:nvPr/>
        </p:nvCxnSpPr>
        <p:spPr>
          <a:xfrm>
            <a:off x="11850624" y="5769864"/>
            <a:ext cx="0" cy="274320"/>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37" name="line"/>
          <p:cNvCxnSpPr/>
          <p:nvPr/>
        </p:nvCxnSpPr>
        <p:spPr>
          <a:xfrm flipH="1">
            <a:off x="2596896" y="6044184"/>
            <a:ext cx="9253728" cy="0"/>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38" name="line"/>
          <p:cNvCxnSpPr/>
          <p:nvPr/>
        </p:nvCxnSpPr>
        <p:spPr>
          <a:xfrm>
            <a:off x="2596896" y="5769864"/>
            <a:ext cx="0" cy="566928"/>
          </a:xfrm>
          <a:prstGeom prst="line">
            <a:avLst/>
          </a:prstGeom>
          <a:ln w="21590">
            <a:solidFill>
              <a:srgbClr val="087B45"/>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shape"/>
          <p:cNvSpPr/>
          <p:nvPr/>
        </p:nvSpPr>
        <p:spPr>
          <a:xfrm>
            <a:off x="658368" y="6364224"/>
            <a:ext cx="3822191" cy="877824"/>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p:cNvSpPr txBox="1"/>
          <p:nvPr/>
        </p:nvSpPr>
        <p:spPr>
          <a:xfrm>
            <a:off x="786384" y="6611112"/>
            <a:ext cx="3566160" cy="402336"/>
          </a:xfrm>
          <a:prstGeom prst="rect">
            <a:avLst/>
          </a:prstGeom>
          <a:noFill/>
        </p:spPr>
        <p:txBody>
          <a:bodyPr wrap="none" lIns="0" rIns="0" tIns="0" bIns="0" anchor="t">
            <a:spAutoFit/>
          </a:bodyPr>
          <a:lstStyle/>
          <a:p>
            <a:pPr algn="ctr">
              <a:lnSpc>
                <a:spcPts val="2415"/>
              </a:lnSpc>
              <a:spcBef>
                <a:spcPts val="0"/>
              </a:spcBef>
              <a:spcAft>
                <a:spcPts val="0"/>
              </a:spcAft>
            </a:pPr>
            <a:r>
              <a:rPr sz="2100" b="1">
                <a:solidFill>
                  <a:srgbClr val="14231D"/>
                </a:solidFill>
                <a:latin typeface="Arial"/>
              </a:rPr>
              <a:t>Road-segment costs</a:t>
            </a:r>
          </a:p>
        </p:txBody>
      </p:sp>
      <p:sp>
        <p:nvSpPr>
          <p:cNvPr id="41" name="shape"/>
          <p:cNvSpPr/>
          <p:nvPr/>
        </p:nvSpPr>
        <p:spPr>
          <a:xfrm>
            <a:off x="5404104" y="6364224"/>
            <a:ext cx="3822191" cy="877824"/>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p:cNvSpPr txBox="1"/>
          <p:nvPr/>
        </p:nvSpPr>
        <p:spPr>
          <a:xfrm>
            <a:off x="5532120" y="6611112"/>
            <a:ext cx="3566160" cy="402336"/>
          </a:xfrm>
          <a:prstGeom prst="rect">
            <a:avLst/>
          </a:prstGeom>
          <a:noFill/>
        </p:spPr>
        <p:txBody>
          <a:bodyPr wrap="none" lIns="0" rIns="0" tIns="0" bIns="0" anchor="t">
            <a:spAutoFit/>
          </a:bodyPr>
          <a:lstStyle/>
          <a:p>
            <a:pPr algn="ctr">
              <a:lnSpc>
                <a:spcPts val="2415"/>
              </a:lnSpc>
              <a:spcBef>
                <a:spcPts val="0"/>
              </a:spcBef>
              <a:spcAft>
                <a:spcPts val="0"/>
              </a:spcAft>
            </a:pPr>
            <a:r>
              <a:rPr sz="2100" b="1">
                <a:solidFill>
                  <a:srgbClr val="14231D"/>
                </a:solidFill>
                <a:latin typeface="Arial"/>
              </a:rPr>
              <a:t>Dijkstra route search</a:t>
            </a:r>
          </a:p>
        </p:txBody>
      </p:sp>
      <p:sp>
        <p:nvSpPr>
          <p:cNvPr id="43" name="shape"/>
          <p:cNvSpPr/>
          <p:nvPr/>
        </p:nvSpPr>
        <p:spPr>
          <a:xfrm>
            <a:off x="10149840" y="6364224"/>
            <a:ext cx="3822191" cy="877824"/>
          </a:xfrm>
          <a:prstGeom prst="roundRect">
            <a:avLst>
              <a:gd name="adj" fmla="val 12000"/>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p:cNvSpPr txBox="1"/>
          <p:nvPr/>
        </p:nvSpPr>
        <p:spPr>
          <a:xfrm>
            <a:off x="10277856" y="6611112"/>
            <a:ext cx="3566160" cy="402336"/>
          </a:xfrm>
          <a:prstGeom prst="rect">
            <a:avLst/>
          </a:prstGeom>
          <a:noFill/>
        </p:spPr>
        <p:txBody>
          <a:bodyPr wrap="none" lIns="0" rIns="0" tIns="0" bIns="0" anchor="t">
            <a:spAutoFit/>
          </a:bodyPr>
          <a:lstStyle/>
          <a:p>
            <a:pPr algn="ctr">
              <a:lnSpc>
                <a:spcPts val="2415"/>
              </a:lnSpc>
              <a:spcBef>
                <a:spcPts val="0"/>
              </a:spcBef>
              <a:spcAft>
                <a:spcPts val="0"/>
              </a:spcAft>
            </a:pPr>
            <a:r>
              <a:rPr sz="2100" b="1">
                <a:solidFill>
                  <a:srgbClr val="FFFFFF"/>
                </a:solidFill>
                <a:latin typeface="Arial"/>
              </a:rPr>
              <a:t>BiKing route choices</a:t>
            </a:r>
          </a:p>
        </p:txBody>
      </p:sp>
      <p:cxnSp>
        <p:nvCxnSpPr>
          <p:cNvPr id="45" name="line"/>
          <p:cNvCxnSpPr/>
          <p:nvPr/>
        </p:nvCxnSpPr>
        <p:spPr>
          <a:xfrm>
            <a:off x="4535424" y="6803136"/>
            <a:ext cx="777240" cy="0"/>
          </a:xfrm>
          <a:prstGeom prst="line">
            <a:avLst/>
          </a:prstGeom>
          <a:ln w="25400">
            <a:solidFill>
              <a:srgbClr val="087B4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line"/>
          <p:cNvCxnSpPr/>
          <p:nvPr/>
        </p:nvCxnSpPr>
        <p:spPr>
          <a:xfrm>
            <a:off x="9281160" y="6803136"/>
            <a:ext cx="777240" cy="0"/>
          </a:xfrm>
          <a:prstGeom prst="line">
            <a:avLst/>
          </a:prstGeom>
          <a:ln w="25400">
            <a:solidFill>
              <a:srgbClr val="087B45"/>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31B"/>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65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65E5A0"/>
                </a:solidFill>
                <a:latin typeface="Arial"/>
              </a:rPr>
              <a:t>THE INNOVATION / EDGE WEIGHTS</a:t>
            </a:r>
          </a:p>
        </p:txBody>
      </p:sp>
      <p:sp>
        <p:nvSpPr>
          <p:cNvPr id="4" name="slide-title"/>
          <p:cNvSpPr txBox="1"/>
          <p:nvPr/>
        </p:nvSpPr>
        <p:spPr>
          <a:xfrm>
            <a:off x="658368" y="868680"/>
            <a:ext cx="13313664" cy="692023"/>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FFFFFF"/>
                </a:solidFill>
                <a:latin typeface="Arial"/>
              </a:rPr>
              <a:t>Routing beyond distance.</a:t>
            </a:r>
          </a:p>
        </p:txBody>
      </p:sp>
      <p:cxnSp>
        <p:nvCxnSpPr>
          <p:cNvPr id="5" name="line"/>
          <p:cNvCxnSpPr/>
          <p:nvPr/>
        </p:nvCxnSpPr>
        <p:spPr>
          <a:xfrm>
            <a:off x="658368" y="7754112"/>
            <a:ext cx="13313664" cy="0"/>
          </a:xfrm>
          <a:prstGeom prst="line">
            <a:avLst/>
          </a:prstGeom>
          <a:ln w="10160">
            <a:solidFill>
              <a:srgbClr val="2B4435"/>
            </a:solidFill>
          </a:ln>
        </p:spPr>
        <p:style>
          <a:lnRef idx="2">
            <a:schemeClr val="accent1"/>
          </a:lnRef>
          <a:fillRef idx="0">
            <a:schemeClr val="accent1"/>
          </a:fillRef>
          <a:effectRef idx="1">
            <a:schemeClr val="accent1"/>
          </a:effectRef>
          <a:fontRef idx="minor">
            <a:schemeClr val="tx1"/>
          </a:fontRef>
        </p:style>
      </p:cxnSp>
      <p:sp>
        <p:nvSpPr>
          <p:cNvPr id="6"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C0D0C5"/>
                </a:solidFill>
                <a:latin typeface="Arial"/>
              </a:rPr>
              <a:t>BiKing  /  HackYeah 2026</a:t>
            </a:r>
          </a:p>
        </p:txBody>
      </p:sp>
      <p:sp>
        <p:nvSpPr>
          <p:cNvPr id="7"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C0D0C5"/>
                </a:solidFill>
                <a:latin typeface="Arial"/>
              </a:rPr>
              <a:t>05 / 10</a:t>
            </a:r>
          </a:p>
        </p:txBody>
      </p:sp>
      <p:sp>
        <p:nvSpPr>
          <p:cNvPr id="8" name="card"/>
          <p:cNvSpPr/>
          <p:nvPr/>
        </p:nvSpPr>
        <p:spPr>
          <a:xfrm>
            <a:off x="658368" y="2048256"/>
            <a:ext cx="4608576" cy="2020824"/>
          </a:xfrm>
          <a:prstGeom prst="roundRect">
            <a:avLst>
              <a:gd name="adj" fmla="val 12000"/>
            </a:avLst>
          </a:prstGeom>
          <a:solidFill>
            <a:srgbClr val="1B3328"/>
          </a:solidFill>
          <a:ln w="12700">
            <a:solidFill>
              <a:srgbClr val="355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p:cNvSpPr/>
          <p:nvPr/>
        </p:nvSpPr>
        <p:spPr>
          <a:xfrm>
            <a:off x="5586984" y="2048256"/>
            <a:ext cx="8385048" cy="2020824"/>
          </a:xfrm>
          <a:prstGeom prst="roundRect">
            <a:avLst>
              <a:gd name="adj" fmla="val 12000"/>
            </a:avLst>
          </a:prstGeom>
          <a:solidFill>
            <a:srgbClr val="1B3328"/>
          </a:solidFill>
          <a:ln w="12700">
            <a:solidFill>
              <a:srgbClr val="355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941832" y="2350008"/>
            <a:ext cx="4032504" cy="356616"/>
          </a:xfrm>
          <a:prstGeom prst="rect">
            <a:avLst/>
          </a:prstGeom>
          <a:noFill/>
        </p:spPr>
        <p:txBody>
          <a:bodyPr wrap="none" lIns="0" rIns="0" tIns="0" bIns="0" anchor="t">
            <a:spAutoFit/>
          </a:bodyPr>
          <a:lstStyle/>
          <a:p>
            <a:pPr algn="l">
              <a:lnSpc>
                <a:spcPts val="2185"/>
              </a:lnSpc>
              <a:spcBef>
                <a:spcPts val="0"/>
              </a:spcBef>
              <a:spcAft>
                <a:spcPts val="0"/>
              </a:spcAft>
            </a:pPr>
            <a:r>
              <a:rPr sz="1900" b="1">
                <a:solidFill>
                  <a:srgbClr val="C0D0C5"/>
                </a:solidFill>
                <a:latin typeface="Arial"/>
              </a:rPr>
              <a:t>FASTEST</a:t>
            </a:r>
          </a:p>
        </p:txBody>
      </p:sp>
      <p:sp>
        <p:nvSpPr>
          <p:cNvPr id="11" name="text"/>
          <p:cNvSpPr txBox="1"/>
          <p:nvPr/>
        </p:nvSpPr>
        <p:spPr>
          <a:xfrm>
            <a:off x="941832" y="2944368"/>
            <a:ext cx="4059936" cy="475488"/>
          </a:xfrm>
          <a:prstGeom prst="rect">
            <a:avLst/>
          </a:prstGeom>
          <a:noFill/>
        </p:spPr>
        <p:txBody>
          <a:bodyPr wrap="none" lIns="0" rIns="0" tIns="0" bIns="0" anchor="t">
            <a:spAutoFit/>
          </a:bodyPr>
          <a:lstStyle/>
          <a:p>
            <a:pPr algn="l">
              <a:lnSpc>
                <a:spcPts val="2990"/>
              </a:lnSpc>
              <a:spcBef>
                <a:spcPts val="0"/>
              </a:spcBef>
              <a:spcAft>
                <a:spcPts val="0"/>
              </a:spcAft>
            </a:pPr>
            <a:r>
              <a:rPr sz="2600" b="1">
                <a:solidFill>
                  <a:srgbClr val="FFFFFF"/>
                </a:solidFill>
                <a:latin typeface="Arial"/>
              </a:rPr>
              <a:t>Edge cost = travel time</a:t>
            </a:r>
          </a:p>
        </p:txBody>
      </p:sp>
      <p:sp>
        <p:nvSpPr>
          <p:cNvPr id="12" name="text"/>
          <p:cNvSpPr txBox="1"/>
          <p:nvPr/>
        </p:nvSpPr>
        <p:spPr>
          <a:xfrm>
            <a:off x="941832" y="3621024"/>
            <a:ext cx="4059936" cy="365760"/>
          </a:xfrm>
          <a:prstGeom prst="rect">
            <a:avLst/>
          </a:prstGeom>
          <a:noFill/>
        </p:spPr>
        <p:txBody>
          <a:bodyPr wrap="none" lIns="0" rIns="0" tIns="0" bIns="0" anchor="t">
            <a:spAutoFit/>
          </a:bodyPr>
          <a:lstStyle/>
          <a:p>
            <a:pPr algn="l">
              <a:lnSpc>
                <a:spcPts val="2185"/>
              </a:lnSpc>
              <a:spcBef>
                <a:spcPts val="0"/>
              </a:spcBef>
              <a:spcAft>
                <a:spcPts val="0"/>
              </a:spcAft>
            </a:pPr>
            <a:r>
              <a:rPr sz="1900" b="0">
                <a:solidFill>
                  <a:srgbClr val="C0D0C5"/>
                </a:solidFill>
                <a:latin typeface="Arial"/>
              </a:rPr>
              <a:t>Minimise total ride time.</a:t>
            </a:r>
          </a:p>
        </p:txBody>
      </p:sp>
      <p:sp>
        <p:nvSpPr>
          <p:cNvPr id="13" name="text"/>
          <p:cNvSpPr txBox="1"/>
          <p:nvPr/>
        </p:nvSpPr>
        <p:spPr>
          <a:xfrm>
            <a:off x="5925312" y="2350008"/>
            <a:ext cx="7708392" cy="356616"/>
          </a:xfrm>
          <a:prstGeom prst="rect">
            <a:avLst/>
          </a:prstGeom>
          <a:noFill/>
        </p:spPr>
        <p:txBody>
          <a:bodyPr wrap="none" lIns="0" rIns="0" tIns="0" bIns="0" anchor="t">
            <a:spAutoFit/>
          </a:bodyPr>
          <a:lstStyle/>
          <a:p>
            <a:pPr algn="l">
              <a:lnSpc>
                <a:spcPts val="2185"/>
              </a:lnSpc>
              <a:spcBef>
                <a:spcPts val="0"/>
              </a:spcBef>
              <a:spcAft>
                <a:spcPts val="0"/>
              </a:spcAft>
            </a:pPr>
            <a:r>
              <a:rPr sz="1900" b="1">
                <a:solidFill>
                  <a:srgbClr val="65E5A0"/>
                </a:solidFill>
                <a:latin typeface="Arial"/>
              </a:rPr>
              <a:t>BIKING / MORE COMFORTABLE</a:t>
            </a:r>
          </a:p>
        </p:txBody>
      </p:sp>
      <p:sp>
        <p:nvSpPr>
          <p:cNvPr id="14" name="text"/>
          <p:cNvSpPr txBox="1"/>
          <p:nvPr/>
        </p:nvSpPr>
        <p:spPr>
          <a:xfrm>
            <a:off x="5925312" y="2880360"/>
            <a:ext cx="7708392" cy="594360"/>
          </a:xfrm>
          <a:prstGeom prst="rect">
            <a:avLst/>
          </a:prstGeom>
          <a:noFill/>
        </p:spPr>
        <p:txBody>
          <a:bodyPr wrap="none" lIns="0" rIns="0" tIns="0" bIns="0" anchor="t">
            <a:spAutoFit/>
          </a:bodyPr>
          <a:lstStyle/>
          <a:p>
            <a:pPr algn="l">
              <a:lnSpc>
                <a:spcPts val="4025"/>
              </a:lnSpc>
              <a:spcBef>
                <a:spcPts val="0"/>
              </a:spcBef>
              <a:spcAft>
                <a:spcPts val="0"/>
              </a:spcAft>
            </a:pPr>
            <a:r>
              <a:rPr sz="3500" b="1">
                <a:solidFill>
                  <a:srgbClr val="FFFFFF"/>
                </a:solidFill>
                <a:latin typeface="Arial"/>
              </a:rPr>
              <a:t>C = t × (1 + αX + wP)</a:t>
            </a:r>
          </a:p>
        </p:txBody>
      </p:sp>
      <p:sp>
        <p:nvSpPr>
          <p:cNvPr id="15" name="text"/>
          <p:cNvSpPr txBox="1"/>
          <p:nvPr/>
        </p:nvSpPr>
        <p:spPr>
          <a:xfrm>
            <a:off x="5925312" y="3648456"/>
            <a:ext cx="7708392" cy="347472"/>
          </a:xfrm>
          <a:prstGeom prst="rect">
            <a:avLst/>
          </a:prstGeom>
          <a:noFill/>
        </p:spPr>
        <p:txBody>
          <a:bodyPr wrap="none" lIns="0" rIns="0" tIns="0" bIns="0" anchor="t">
            <a:spAutoFit/>
          </a:bodyPr>
          <a:lstStyle/>
          <a:p>
            <a:pPr algn="l">
              <a:lnSpc>
                <a:spcPts val="2185"/>
              </a:lnSpc>
              <a:spcBef>
                <a:spcPts val="0"/>
              </a:spcBef>
              <a:spcAft>
                <a:spcPts val="0"/>
              </a:spcAft>
            </a:pPr>
            <a:r>
              <a:rPr sz="1900" b="0">
                <a:solidFill>
                  <a:srgbClr val="C0D0C5"/>
                </a:solidFill>
                <a:latin typeface="Arial"/>
              </a:rPr>
              <a:t>Time × a profile-specific environmental penalty</a:t>
            </a:r>
          </a:p>
        </p:txBody>
      </p:sp>
      <p:sp>
        <p:nvSpPr>
          <p:cNvPr id="16" name="text"/>
          <p:cNvSpPr txBox="1"/>
          <p:nvPr/>
        </p:nvSpPr>
        <p:spPr>
          <a:xfrm>
            <a:off x="658368" y="4544568"/>
            <a:ext cx="8412480" cy="347472"/>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65E5A0"/>
                </a:solidFill>
                <a:latin typeface="Arial"/>
              </a:rPr>
              <a:t>PENALISE THE AVOIDABLE PART</a:t>
            </a:r>
          </a:p>
        </p:txBody>
      </p:sp>
      <p:sp>
        <p:nvSpPr>
          <p:cNvPr id="17" name="text"/>
          <p:cNvSpPr txBox="1"/>
          <p:nvPr/>
        </p:nvSpPr>
        <p:spPr>
          <a:xfrm>
            <a:off x="658368" y="5111496"/>
            <a:ext cx="8549640" cy="539496"/>
          </a:xfrm>
          <a:prstGeom prst="rect">
            <a:avLst/>
          </a:prstGeom>
          <a:noFill/>
        </p:spPr>
        <p:txBody>
          <a:bodyPr wrap="none" lIns="0" rIns="0" tIns="0" bIns="0" anchor="t">
            <a:spAutoFit/>
          </a:bodyPr>
          <a:lstStyle/>
          <a:p>
            <a:pPr algn="l">
              <a:lnSpc>
                <a:spcPts val="3104"/>
              </a:lnSpc>
              <a:spcBef>
                <a:spcPts val="0"/>
              </a:spcBef>
              <a:spcAft>
                <a:spcPts val="0"/>
              </a:spcAft>
            </a:pPr>
            <a:r>
              <a:rPr sz="2700" b="1">
                <a:solidFill>
                  <a:srgbClr val="FFFFFF"/>
                </a:solidFill>
                <a:latin typeface="Arial"/>
              </a:rPr>
              <a:t>X = clip((D − D₁₀) / (1 − D₁₀), 0, 1)</a:t>
            </a:r>
          </a:p>
        </p:txBody>
      </p:sp>
      <p:sp>
        <p:nvSpPr>
          <p:cNvPr id="18" name="text"/>
          <p:cNvSpPr txBox="1"/>
          <p:nvPr/>
        </p:nvSpPr>
        <p:spPr>
          <a:xfrm>
            <a:off x="658368" y="5760720"/>
            <a:ext cx="8430768" cy="384048"/>
          </a:xfrm>
          <a:prstGeom prst="rect">
            <a:avLst/>
          </a:prstGeom>
          <a:noFill/>
        </p:spPr>
        <p:txBody>
          <a:bodyPr wrap="none" lIns="0" rIns="0" tIns="0" bIns="0" anchor="t">
            <a:spAutoFit/>
          </a:bodyPr>
          <a:lstStyle/>
          <a:p>
            <a:pPr algn="l">
              <a:lnSpc>
                <a:spcPts val="2300"/>
              </a:lnSpc>
              <a:spcBef>
                <a:spcPts val="0"/>
              </a:spcBef>
              <a:spcAft>
                <a:spcPts val="0"/>
              </a:spcAft>
            </a:pPr>
            <a:r>
              <a:rPr sz="2000" b="0">
                <a:solidFill>
                  <a:srgbClr val="C0D0C5"/>
                </a:solidFill>
                <a:latin typeface="Arial"/>
              </a:rPr>
              <a:t>D: fuzzy discomfort    D₁₀: today's city baseline</a:t>
            </a:r>
          </a:p>
        </p:txBody>
      </p:sp>
      <p:sp>
        <p:nvSpPr>
          <p:cNvPr id="19" name="text"/>
          <p:cNvSpPr txBox="1"/>
          <p:nvPr/>
        </p:nvSpPr>
        <p:spPr>
          <a:xfrm>
            <a:off x="658368" y="6254496"/>
            <a:ext cx="8430768" cy="338328"/>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C0D0C5"/>
                </a:solidFill>
                <a:latin typeface="Arial"/>
              </a:rPr>
              <a:t>α / w: rider weights    P: relative air + hotspot penalty</a:t>
            </a:r>
          </a:p>
        </p:txBody>
      </p:sp>
      <p:cxnSp>
        <p:nvCxnSpPr>
          <p:cNvPr id="20" name="line"/>
          <p:cNvCxnSpPr/>
          <p:nvPr/>
        </p:nvCxnSpPr>
        <p:spPr>
          <a:xfrm>
            <a:off x="9189720" y="4553712"/>
            <a:ext cx="0" cy="1810512"/>
          </a:xfrm>
          <a:prstGeom prst="line">
            <a:avLst/>
          </a:prstGeom>
          <a:ln w="12700">
            <a:solidFill>
              <a:srgbClr val="355141"/>
            </a:solidFill>
          </a:ln>
        </p:spPr>
        <p:style>
          <a:lnRef idx="2">
            <a:schemeClr val="accent1"/>
          </a:lnRef>
          <a:fillRef idx="0">
            <a:schemeClr val="accent1"/>
          </a:fillRef>
          <a:effectRef idx="1">
            <a:schemeClr val="accent1"/>
          </a:effectRef>
          <a:fontRef idx="minor">
            <a:schemeClr val="tx1"/>
          </a:fontRef>
        </p:style>
      </p:cxnSp>
      <p:sp>
        <p:nvSpPr>
          <p:cNvPr id="21" name="text"/>
          <p:cNvSpPr txBox="1"/>
          <p:nvPr/>
        </p:nvSpPr>
        <p:spPr>
          <a:xfrm>
            <a:off x="9646920" y="4709160"/>
            <a:ext cx="4306824" cy="969264"/>
          </a:xfrm>
          <a:prstGeom prst="rect">
            <a:avLst/>
          </a:prstGeom>
          <a:noFill/>
        </p:spPr>
        <p:txBody>
          <a:bodyPr wrap="none" lIns="0" rIns="0" tIns="0" bIns="0" anchor="t">
            <a:spAutoFit/>
          </a:bodyPr>
          <a:lstStyle/>
          <a:p>
            <a:pPr algn="l">
              <a:lnSpc>
                <a:spcPts val="3334"/>
              </a:lnSpc>
              <a:spcBef>
                <a:spcPts val="0"/>
              </a:spcBef>
              <a:spcAft>
                <a:spcPts val="0"/>
              </a:spcAft>
            </a:pPr>
            <a:r>
              <a:rPr sz="2900" b="1">
                <a:solidFill>
                  <a:srgbClr val="65E5A0"/>
                </a:solidFill>
                <a:latin typeface="Arial"/>
              </a:rPr>
              <a:t>Same graph.</a:t>
            </a:r>
          </a:p>
          <a:p>
            <a:pPr algn="l">
              <a:lnSpc>
                <a:spcPts val="3334"/>
              </a:lnSpc>
              <a:spcBef>
                <a:spcPts val="0"/>
              </a:spcBef>
              <a:spcAft>
                <a:spcPts val="0"/>
              </a:spcAft>
            </a:pPr>
            <a:r>
              <a:rPr sz="2900" b="1">
                <a:solidFill>
                  <a:srgbClr val="65E5A0"/>
                </a:solidFill>
                <a:latin typeface="Arial"/>
              </a:rPr>
              <a:t>Different edge costs.</a:t>
            </a:r>
          </a:p>
        </p:txBody>
      </p:sp>
      <p:sp>
        <p:nvSpPr>
          <p:cNvPr id="22" name="text"/>
          <p:cNvSpPr txBox="1"/>
          <p:nvPr/>
        </p:nvSpPr>
        <p:spPr>
          <a:xfrm>
            <a:off x="9646920" y="5907024"/>
            <a:ext cx="4306824" cy="630936"/>
          </a:xfrm>
          <a:prstGeom prst="rect">
            <a:avLst/>
          </a:prstGeom>
          <a:noFill/>
        </p:spPr>
        <p:txBody>
          <a:bodyPr wrap="none" lIns="0" rIns="0" tIns="0" bIns="0" anchor="t">
            <a:spAutoFit/>
          </a:bodyPr>
          <a:lstStyle/>
          <a:p>
            <a:pPr algn="l">
              <a:lnSpc>
                <a:spcPts val="2242"/>
              </a:lnSpc>
              <a:spcBef>
                <a:spcPts val="0"/>
              </a:spcBef>
              <a:spcAft>
                <a:spcPts val="0"/>
              </a:spcAft>
            </a:pPr>
            <a:r>
              <a:rPr sz="1950" b="0">
                <a:solidFill>
                  <a:srgbClr val="C0D0C5"/>
                </a:solidFill>
                <a:latin typeface="Arial"/>
              </a:rPr>
              <a:t>SciPy Dijkstra</a:t>
            </a:r>
          </a:p>
          <a:p>
            <a:pPr algn="l">
              <a:lnSpc>
                <a:spcPts val="2242"/>
              </a:lnSpc>
              <a:spcBef>
                <a:spcPts val="0"/>
              </a:spcBef>
              <a:spcAft>
                <a:spcPts val="0"/>
              </a:spcAft>
            </a:pPr>
            <a:r>
              <a:rPr sz="1950" b="0">
                <a:solidFill>
                  <a:srgbClr val="C0D0C5"/>
                </a:solidFill>
                <a:latin typeface="Arial"/>
              </a:rPr>
              <a:t>on a directed CSR graph</a:t>
            </a:r>
          </a:p>
        </p:txBody>
      </p:sp>
      <p:sp>
        <p:nvSpPr>
          <p:cNvPr id="23" name="text"/>
          <p:cNvSpPr txBox="1"/>
          <p:nvPr/>
        </p:nvSpPr>
        <p:spPr>
          <a:xfrm>
            <a:off x="658368" y="6784848"/>
            <a:ext cx="13313664" cy="530352"/>
          </a:xfrm>
          <a:prstGeom prst="rect">
            <a:avLst/>
          </a:prstGeom>
          <a:noFill/>
        </p:spPr>
        <p:txBody>
          <a:bodyPr wrap="none" lIns="0" rIns="0" tIns="0" bIns="0" anchor="t">
            <a:spAutoFit/>
          </a:bodyPr>
          <a:lstStyle/>
          <a:p>
            <a:pPr algn="l">
              <a:lnSpc>
                <a:spcPts val="3219"/>
              </a:lnSpc>
              <a:spcBef>
                <a:spcPts val="0"/>
              </a:spcBef>
              <a:spcAft>
                <a:spcPts val="0"/>
              </a:spcAft>
            </a:pPr>
            <a:r>
              <a:rPr sz="2800" b="1">
                <a:solidFill>
                  <a:srgbClr val="FFFFFF"/>
                </a:solidFill>
                <a:latin typeface="Arial"/>
              </a:rPr>
              <a:t>Weights are applied before path 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087B45"/>
                </a:solidFill>
                <a:latin typeface="Arial"/>
              </a:rPr>
              <a:t>THE TECHNICAL HIGHLIGHT / PHYSICAL SHADE</a:t>
            </a:r>
          </a:p>
        </p:txBody>
      </p:sp>
      <p:sp>
        <p:nvSpPr>
          <p:cNvPr id="4" name="slide-title"/>
          <p:cNvSpPr txBox="1"/>
          <p:nvPr/>
        </p:nvSpPr>
        <p:spPr>
          <a:xfrm>
            <a:off x="658368" y="868680"/>
            <a:ext cx="13313664" cy="677417"/>
          </a:xfrm>
          <a:prstGeom prst="rect">
            <a:avLst/>
          </a:prstGeom>
          <a:noFill/>
        </p:spPr>
        <p:txBody>
          <a:bodyPr wrap="none" lIns="0" rIns="0" tIns="0" bIns="0" anchor="t">
            <a:spAutoFit/>
          </a:bodyPr>
          <a:lstStyle/>
          <a:p>
            <a:pPr algn="l">
              <a:lnSpc>
                <a:spcPts val="4830"/>
              </a:lnSpc>
              <a:spcBef>
                <a:spcPts val="0"/>
              </a:spcBef>
              <a:spcAft>
                <a:spcPts val="0"/>
              </a:spcAft>
            </a:pPr>
            <a:r>
              <a:rPr sz="4200" b="1">
                <a:solidFill>
                  <a:srgbClr val="14231D"/>
                </a:solidFill>
                <a:latin typeface="Arial"/>
              </a:rPr>
              <a:t>We actually calculate the shadows.</a:t>
            </a:r>
          </a:p>
        </p:txBody>
      </p:sp>
      <p:cxnSp>
        <p:nvCxnSpPr>
          <p:cNvPr id="5" name="line"/>
          <p:cNvCxnSpPr/>
          <p:nvPr/>
        </p:nvCxnSpPr>
        <p:spPr>
          <a:xfrm>
            <a:off x="658368" y="7754112"/>
            <a:ext cx="13313664" cy="0"/>
          </a:xfrm>
          <a:prstGeom prst="line">
            <a:avLst/>
          </a:prstGeom>
          <a:ln w="10160">
            <a:solidFill>
              <a:srgbClr val="D9E2D9"/>
            </a:solidFill>
          </a:ln>
        </p:spPr>
        <p:style>
          <a:lnRef idx="2">
            <a:schemeClr val="accent1"/>
          </a:lnRef>
          <a:fillRef idx="0">
            <a:schemeClr val="accent1"/>
          </a:fillRef>
          <a:effectRef idx="1">
            <a:schemeClr val="accent1"/>
          </a:effectRef>
          <a:fontRef idx="minor">
            <a:schemeClr val="tx1"/>
          </a:fontRef>
        </p:style>
      </p:cxnSp>
      <p:sp>
        <p:nvSpPr>
          <p:cNvPr id="6"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607068"/>
                </a:solidFill>
                <a:latin typeface="Arial"/>
              </a:rPr>
              <a:t>BiKing  /  HackYeah 2026</a:t>
            </a:r>
          </a:p>
        </p:txBody>
      </p:sp>
      <p:sp>
        <p:nvSpPr>
          <p:cNvPr id="7"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607068"/>
                </a:solidFill>
                <a:latin typeface="Arial"/>
              </a:rPr>
              <a:t>06 / 10</a:t>
            </a:r>
          </a:p>
        </p:txBody>
      </p:sp>
      <p:sp>
        <p:nvSpPr>
          <p:cNvPr id="8" name="card-shadow"/>
          <p:cNvSpPr/>
          <p:nvPr/>
        </p:nvSpPr>
        <p:spPr>
          <a:xfrm>
            <a:off x="694944" y="2084832"/>
            <a:ext cx="8138160" cy="4315968"/>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p:cNvSpPr/>
          <p:nvPr/>
        </p:nvSpPr>
        <p:spPr>
          <a:xfrm>
            <a:off x="658368" y="2029968"/>
            <a:ext cx="8138160" cy="4315968"/>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932688" y="2286000"/>
            <a:ext cx="7589520" cy="320040"/>
          </a:xfrm>
          <a:prstGeom prst="rect">
            <a:avLst/>
          </a:prstGeom>
          <a:noFill/>
        </p:spPr>
        <p:txBody>
          <a:bodyPr wrap="none" lIns="0" rIns="0" tIns="0" bIns="0" anchor="t">
            <a:spAutoFit/>
          </a:bodyPr>
          <a:lstStyle/>
          <a:p>
            <a:pPr algn="l">
              <a:lnSpc>
                <a:spcPts val="1897"/>
              </a:lnSpc>
              <a:spcBef>
                <a:spcPts val="0"/>
              </a:spcBef>
              <a:spcAft>
                <a:spcPts val="0"/>
              </a:spcAft>
            </a:pPr>
            <a:r>
              <a:rPr sz="1650" b="1">
                <a:solidFill>
                  <a:srgbClr val="607068"/>
                </a:solidFill>
                <a:latin typeface="Arial"/>
              </a:rPr>
              <a:t>SCHEMATIC / ROAD CROSS-SECTION</a:t>
            </a:r>
          </a:p>
        </p:txBody>
      </p:sp>
      <p:sp>
        <p:nvSpPr>
          <p:cNvPr id="11" name="shape"/>
          <p:cNvSpPr/>
          <p:nvPr/>
        </p:nvSpPr>
        <p:spPr>
          <a:xfrm>
            <a:off x="7674742" y="3029590"/>
            <a:ext cx="414771" cy="414771"/>
          </a:xfrm>
          <a:prstGeom prst="ellipse">
            <a:avLst/>
          </a:prstGeom>
          <a:solidFill>
            <a:srgbClr val="F3C7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line"/>
          <p:cNvCxnSpPr/>
          <p:nvPr/>
        </p:nvCxnSpPr>
        <p:spPr>
          <a:xfrm>
            <a:off x="8166323" y="3236976"/>
            <a:ext cx="92172" cy="0"/>
          </a:xfrm>
          <a:prstGeom prst="line">
            <a:avLst/>
          </a:prstGeom>
          <a:ln w="22860">
            <a:solidFill>
              <a:srgbClr val="F3C76A"/>
            </a:solidFill>
          </a:ln>
        </p:spPr>
        <p:style>
          <a:lnRef idx="2">
            <a:schemeClr val="accent1"/>
          </a:lnRef>
          <a:fillRef idx="0">
            <a:schemeClr val="accent1"/>
          </a:fillRef>
          <a:effectRef idx="1">
            <a:schemeClr val="accent1"/>
          </a:effectRef>
          <a:fontRef idx="minor">
            <a:schemeClr val="tx1"/>
          </a:fontRef>
        </p:style>
      </p:cxnSp>
      <p:cxnSp>
        <p:nvCxnSpPr>
          <p:cNvPr id="13" name="line"/>
          <p:cNvCxnSpPr/>
          <p:nvPr/>
        </p:nvCxnSpPr>
        <p:spPr>
          <a:xfrm>
            <a:off x="8083084" y="3437932"/>
            <a:ext cx="65175" cy="65175"/>
          </a:xfrm>
          <a:prstGeom prst="line">
            <a:avLst/>
          </a:prstGeom>
          <a:ln w="22860">
            <a:solidFill>
              <a:srgbClr val="F3C76A"/>
            </a:solidFill>
          </a:ln>
        </p:spPr>
        <p:style>
          <a:lnRef idx="2">
            <a:schemeClr val="accent1"/>
          </a:lnRef>
          <a:fillRef idx="0">
            <a:schemeClr val="accent1"/>
          </a:fillRef>
          <a:effectRef idx="1">
            <a:schemeClr val="accent1"/>
          </a:effectRef>
          <a:fontRef idx="minor">
            <a:schemeClr val="tx1"/>
          </a:fontRef>
        </p:style>
      </p:cxnSp>
      <p:cxnSp>
        <p:nvCxnSpPr>
          <p:cNvPr id="14" name="line"/>
          <p:cNvCxnSpPr/>
          <p:nvPr/>
        </p:nvCxnSpPr>
        <p:spPr>
          <a:xfrm>
            <a:off x="7882127" y="3521171"/>
            <a:ext cx="0" cy="92172"/>
          </a:xfrm>
          <a:prstGeom prst="line">
            <a:avLst/>
          </a:prstGeom>
          <a:ln w="22860">
            <a:solidFill>
              <a:srgbClr val="F3C76A"/>
            </a:solidFill>
          </a:ln>
        </p:spPr>
        <p:style>
          <a:lnRef idx="2">
            <a:schemeClr val="accent1"/>
          </a:lnRef>
          <a:fillRef idx="0">
            <a:schemeClr val="accent1"/>
          </a:fillRef>
          <a:effectRef idx="1">
            <a:schemeClr val="accent1"/>
          </a:effectRef>
          <a:fontRef idx="minor">
            <a:schemeClr val="tx1"/>
          </a:fontRef>
        </p:style>
      </p:cxnSp>
      <p:cxnSp>
        <p:nvCxnSpPr>
          <p:cNvPr id="15" name="line"/>
          <p:cNvCxnSpPr/>
          <p:nvPr/>
        </p:nvCxnSpPr>
        <p:spPr>
          <a:xfrm flipH="1">
            <a:off x="7615996" y="3437932"/>
            <a:ext cx="65175" cy="65175"/>
          </a:xfrm>
          <a:prstGeom prst="line">
            <a:avLst/>
          </a:prstGeom>
          <a:ln w="22860">
            <a:solidFill>
              <a:srgbClr val="F3C76A"/>
            </a:solidFill>
          </a:ln>
        </p:spPr>
        <p:style>
          <a:lnRef idx="2">
            <a:schemeClr val="accent1"/>
          </a:lnRef>
          <a:fillRef idx="0">
            <a:schemeClr val="accent1"/>
          </a:fillRef>
          <a:effectRef idx="1">
            <a:schemeClr val="accent1"/>
          </a:effectRef>
          <a:fontRef idx="minor">
            <a:schemeClr val="tx1"/>
          </a:fontRef>
        </p:style>
      </p:cxnSp>
      <p:cxnSp>
        <p:nvCxnSpPr>
          <p:cNvPr id="16" name="line"/>
          <p:cNvCxnSpPr/>
          <p:nvPr/>
        </p:nvCxnSpPr>
        <p:spPr>
          <a:xfrm flipH="1">
            <a:off x="7505760" y="3236976"/>
            <a:ext cx="92172" cy="0"/>
          </a:xfrm>
          <a:prstGeom prst="line">
            <a:avLst/>
          </a:prstGeom>
          <a:ln w="22860">
            <a:solidFill>
              <a:srgbClr val="F3C76A"/>
            </a:solidFill>
          </a:ln>
        </p:spPr>
        <p:style>
          <a:lnRef idx="2">
            <a:schemeClr val="accent1"/>
          </a:lnRef>
          <a:fillRef idx="0">
            <a:schemeClr val="accent1"/>
          </a:fillRef>
          <a:effectRef idx="1">
            <a:schemeClr val="accent1"/>
          </a:effectRef>
          <a:fontRef idx="minor">
            <a:schemeClr val="tx1"/>
          </a:fontRef>
        </p:style>
      </p:cxnSp>
      <p:cxnSp>
        <p:nvCxnSpPr>
          <p:cNvPr id="17" name="line"/>
          <p:cNvCxnSpPr/>
          <p:nvPr/>
        </p:nvCxnSpPr>
        <p:spPr>
          <a:xfrm flipH="1" flipV="1">
            <a:off x="7615996" y="2970844"/>
            <a:ext cx="65175" cy="65175"/>
          </a:xfrm>
          <a:prstGeom prst="line">
            <a:avLst/>
          </a:prstGeom>
          <a:ln w="22860">
            <a:solidFill>
              <a:srgbClr val="F3C76A"/>
            </a:solidFill>
          </a:ln>
        </p:spPr>
        <p:style>
          <a:lnRef idx="2">
            <a:schemeClr val="accent1"/>
          </a:lnRef>
          <a:fillRef idx="0">
            <a:schemeClr val="accent1"/>
          </a:fillRef>
          <a:effectRef idx="1">
            <a:schemeClr val="accent1"/>
          </a:effectRef>
          <a:fontRef idx="minor">
            <a:schemeClr val="tx1"/>
          </a:fontRef>
        </p:style>
      </p:cxnSp>
      <p:cxnSp>
        <p:nvCxnSpPr>
          <p:cNvPr id="18" name="line"/>
          <p:cNvCxnSpPr/>
          <p:nvPr/>
        </p:nvCxnSpPr>
        <p:spPr>
          <a:xfrm flipV="1">
            <a:off x="7882127" y="2860608"/>
            <a:ext cx="0" cy="92172"/>
          </a:xfrm>
          <a:prstGeom prst="line">
            <a:avLst/>
          </a:prstGeom>
          <a:ln w="22860">
            <a:solidFill>
              <a:srgbClr val="F3C76A"/>
            </a:solidFill>
          </a:ln>
        </p:spPr>
        <p:style>
          <a:lnRef idx="2">
            <a:schemeClr val="accent1"/>
          </a:lnRef>
          <a:fillRef idx="0">
            <a:schemeClr val="accent1"/>
          </a:fillRef>
          <a:effectRef idx="1">
            <a:schemeClr val="accent1"/>
          </a:effectRef>
          <a:fontRef idx="minor">
            <a:schemeClr val="tx1"/>
          </a:fontRef>
        </p:style>
      </p:cxnSp>
      <p:cxnSp>
        <p:nvCxnSpPr>
          <p:cNvPr id="19" name="line"/>
          <p:cNvCxnSpPr/>
          <p:nvPr/>
        </p:nvCxnSpPr>
        <p:spPr>
          <a:xfrm flipV="1">
            <a:off x="8083084" y="2970844"/>
            <a:ext cx="65175" cy="65175"/>
          </a:xfrm>
          <a:prstGeom prst="line">
            <a:avLst/>
          </a:prstGeom>
          <a:ln w="22860">
            <a:solidFill>
              <a:srgbClr val="F3C76A"/>
            </a:solidFill>
          </a:ln>
        </p:spPr>
        <p:style>
          <a:lnRef idx="2">
            <a:schemeClr val="accent1"/>
          </a:lnRef>
          <a:fillRef idx="0">
            <a:schemeClr val="accent1"/>
          </a:fillRef>
          <a:effectRef idx="1">
            <a:schemeClr val="accent1"/>
          </a:effectRef>
          <a:fontRef idx="minor">
            <a:schemeClr val="tx1"/>
          </a:fontRef>
        </p:style>
      </p:cxnSp>
      <p:sp>
        <p:nvSpPr>
          <p:cNvPr id="20" name="text"/>
          <p:cNvSpPr txBox="1"/>
          <p:nvPr/>
        </p:nvSpPr>
        <p:spPr>
          <a:xfrm>
            <a:off x="6967728" y="3749039"/>
            <a:ext cx="1490472" cy="320040"/>
          </a:xfrm>
          <a:prstGeom prst="rect">
            <a:avLst/>
          </a:prstGeom>
          <a:noFill/>
        </p:spPr>
        <p:txBody>
          <a:bodyPr wrap="none" lIns="0" rIns="0" tIns="0" bIns="0" anchor="t">
            <a:spAutoFit/>
          </a:bodyPr>
          <a:lstStyle/>
          <a:p>
            <a:pPr algn="l">
              <a:lnSpc>
                <a:spcPts val="1839"/>
              </a:lnSpc>
              <a:spcBef>
                <a:spcPts val="0"/>
              </a:spcBef>
              <a:spcAft>
                <a:spcPts val="0"/>
              </a:spcAft>
            </a:pPr>
            <a:r>
              <a:rPr sz="1600" b="0">
                <a:solidFill>
                  <a:srgbClr val="087B45"/>
                </a:solidFill>
                <a:latin typeface="Arial"/>
              </a:rPr>
              <a:t>Sun position</a:t>
            </a:r>
          </a:p>
        </p:txBody>
      </p:sp>
      <p:sp>
        <p:nvSpPr>
          <p:cNvPr id="21" name="shape"/>
          <p:cNvSpPr/>
          <p:nvPr/>
        </p:nvSpPr>
        <p:spPr>
          <a:xfrm>
            <a:off x="1069848" y="5596128"/>
            <a:ext cx="7260336" cy="310896"/>
          </a:xfrm>
          <a:prstGeom prst="roundRect">
            <a:avLst>
              <a:gd name="adj" fmla="val 12000"/>
            </a:avLst>
          </a:prstGeom>
          <a:solidFill>
            <a:srgbClr val="DC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rojected-shadow-schematic"/>
          <p:cNvSpPr/>
          <p:nvPr/>
        </p:nvSpPr>
        <p:spPr>
          <a:xfrm>
            <a:off x="1298448" y="5605272"/>
            <a:ext cx="3986784" cy="283464"/>
          </a:xfrm>
          <a:custGeom>
            <a:avLst/>
            <a:gdLst/>
            <a:ahLst/>
            <a:cxnLst/>
            <a:rect l="l" t="t" r="r" b="b"/>
            <a:pathLst>
              <a:path w="3986784" h="283464">
                <a:moveTo>
                  <a:pt x="0" y="0"/>
                </a:moveTo>
                <a:lnTo>
                  <a:pt x="3575304" y="0"/>
                </a:lnTo>
                <a:lnTo>
                  <a:pt x="3986784" y="283464"/>
                </a:lnTo>
                <a:lnTo>
                  <a:pt x="0" y="283464"/>
                </a:lnTo>
                <a:close/>
              </a:path>
            </a:pathLst>
          </a:custGeom>
          <a:solidFill>
            <a:srgbClr val="B4D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line"/>
          <p:cNvCxnSpPr/>
          <p:nvPr/>
        </p:nvCxnSpPr>
        <p:spPr>
          <a:xfrm flipV="1">
            <a:off x="1847088" y="3236976"/>
            <a:ext cx="6025895" cy="2039112"/>
          </a:xfrm>
          <a:prstGeom prst="line">
            <a:avLst/>
          </a:prstGeom>
          <a:ln w="30480">
            <a:solidFill>
              <a:srgbClr val="F3C76A"/>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4" name="text"/>
          <p:cNvSpPr txBox="1"/>
          <p:nvPr/>
        </p:nvSpPr>
        <p:spPr>
          <a:xfrm>
            <a:off x="1014984" y="2990088"/>
            <a:ext cx="3840480" cy="393192"/>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087B45"/>
                </a:solidFill>
                <a:latin typeface="Arial"/>
              </a:rPr>
              <a:t>Trace toward the sun</a:t>
            </a:r>
          </a:p>
        </p:txBody>
      </p:sp>
      <p:sp>
        <p:nvSpPr>
          <p:cNvPr id="25" name="text"/>
          <p:cNvSpPr txBox="1"/>
          <p:nvPr/>
        </p:nvSpPr>
        <p:spPr>
          <a:xfrm>
            <a:off x="1014984" y="3520440"/>
            <a:ext cx="3886200" cy="374904"/>
          </a:xfrm>
          <a:prstGeom prst="rect">
            <a:avLst/>
          </a:prstGeom>
          <a:noFill/>
        </p:spPr>
        <p:txBody>
          <a:bodyPr wrap="none" lIns="0" rIns="0" tIns="0" bIns="0" anchor="t">
            <a:spAutoFit/>
          </a:bodyPr>
          <a:lstStyle/>
          <a:p>
            <a:pPr algn="l">
              <a:lnSpc>
                <a:spcPts val="2185"/>
              </a:lnSpc>
              <a:spcBef>
                <a:spcPts val="0"/>
              </a:spcBef>
              <a:spcAft>
                <a:spcPts val="0"/>
              </a:spcAft>
            </a:pPr>
            <a:r>
              <a:rPr sz="1900" b="0">
                <a:solidFill>
                  <a:srgbClr val="607068"/>
                </a:solidFill>
                <a:latin typeface="Arial"/>
              </a:rPr>
              <a:t>Ray blocked by the building</a:t>
            </a:r>
          </a:p>
        </p:txBody>
      </p:sp>
      <p:sp>
        <p:nvSpPr>
          <p:cNvPr id="26" name="shape"/>
          <p:cNvSpPr/>
          <p:nvPr/>
        </p:nvSpPr>
        <p:spPr>
          <a:xfrm>
            <a:off x="4828032" y="3977639"/>
            <a:ext cx="1234440" cy="1627632"/>
          </a:xfrm>
          <a:prstGeom prst="roundRect">
            <a:avLst>
              <a:gd name="adj" fmla="val 12000"/>
            </a:avLst>
          </a:prstGeom>
          <a:solidFill>
            <a:srgbClr val="476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hape"/>
          <p:cNvSpPr/>
          <p:nvPr/>
        </p:nvSpPr>
        <p:spPr>
          <a:xfrm>
            <a:off x="5020056" y="4197096"/>
            <a:ext cx="219456" cy="283464"/>
          </a:xfrm>
          <a:prstGeom prst="rect">
            <a:avLst/>
          </a:prstGeom>
          <a:solidFill>
            <a:srgbClr val="BED3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hape"/>
          <p:cNvSpPr/>
          <p:nvPr/>
        </p:nvSpPr>
        <p:spPr>
          <a:xfrm>
            <a:off x="5486400" y="4197096"/>
            <a:ext cx="219456" cy="283464"/>
          </a:xfrm>
          <a:prstGeom prst="rect">
            <a:avLst/>
          </a:prstGeom>
          <a:solidFill>
            <a:srgbClr val="BED3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hape"/>
          <p:cNvSpPr/>
          <p:nvPr/>
        </p:nvSpPr>
        <p:spPr>
          <a:xfrm>
            <a:off x="5020056" y="4727448"/>
            <a:ext cx="219456" cy="283464"/>
          </a:xfrm>
          <a:prstGeom prst="rect">
            <a:avLst/>
          </a:prstGeom>
          <a:solidFill>
            <a:srgbClr val="BED3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hape"/>
          <p:cNvSpPr/>
          <p:nvPr/>
        </p:nvSpPr>
        <p:spPr>
          <a:xfrm>
            <a:off x="5486400" y="4727448"/>
            <a:ext cx="219456" cy="283464"/>
          </a:xfrm>
          <a:prstGeom prst="rect">
            <a:avLst/>
          </a:prstGeom>
          <a:solidFill>
            <a:srgbClr val="BED3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p:cNvSpPr txBox="1"/>
          <p:nvPr/>
        </p:nvSpPr>
        <p:spPr>
          <a:xfrm>
            <a:off x="4672584" y="6025896"/>
            <a:ext cx="1828800" cy="310896"/>
          </a:xfrm>
          <a:prstGeom prst="rect">
            <a:avLst/>
          </a:prstGeom>
          <a:noFill/>
        </p:spPr>
        <p:txBody>
          <a:bodyPr wrap="none" lIns="0" rIns="0" tIns="0" bIns="0" anchor="t">
            <a:spAutoFit/>
          </a:bodyPr>
          <a:lstStyle/>
          <a:p>
            <a:pPr algn="l">
              <a:lnSpc>
                <a:spcPts val="1954"/>
              </a:lnSpc>
              <a:spcBef>
                <a:spcPts val="0"/>
              </a:spcBef>
              <a:spcAft>
                <a:spcPts val="0"/>
              </a:spcAft>
            </a:pPr>
            <a:r>
              <a:rPr sz="1700" b="0">
                <a:solidFill>
                  <a:srgbClr val="607068"/>
                </a:solidFill>
                <a:latin typeface="Arial"/>
              </a:rPr>
              <a:t>Building / H</a:t>
            </a:r>
          </a:p>
        </p:txBody>
      </p:sp>
      <p:sp>
        <p:nvSpPr>
          <p:cNvPr id="32" name="shape"/>
          <p:cNvSpPr/>
          <p:nvPr/>
        </p:nvSpPr>
        <p:spPr>
          <a:xfrm>
            <a:off x="1444752" y="5283037"/>
            <a:ext cx="263347" cy="263347"/>
          </a:xfrm>
          <a:prstGeom prst="ellipse">
            <a:avLst/>
          </a:prstGeom>
          <a:noFill/>
          <a:ln w="21590">
            <a:solidFill>
              <a:srgbClr val="087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hape"/>
          <p:cNvSpPr/>
          <p:nvPr/>
        </p:nvSpPr>
        <p:spPr>
          <a:xfrm>
            <a:off x="1918776" y="5283037"/>
            <a:ext cx="263347" cy="263347"/>
          </a:xfrm>
          <a:prstGeom prst="ellipse">
            <a:avLst/>
          </a:prstGeom>
          <a:noFill/>
          <a:ln w="21590">
            <a:solidFill>
              <a:srgbClr val="087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line"/>
          <p:cNvCxnSpPr/>
          <p:nvPr/>
        </p:nvCxnSpPr>
        <p:spPr>
          <a:xfrm flipV="1">
            <a:off x="1576425" y="5210616"/>
            <a:ext cx="184343" cy="204095"/>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35" name="line"/>
          <p:cNvCxnSpPr/>
          <p:nvPr/>
        </p:nvCxnSpPr>
        <p:spPr>
          <a:xfrm>
            <a:off x="1760768" y="5210616"/>
            <a:ext cx="158008" cy="204095"/>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36" name="line"/>
          <p:cNvCxnSpPr/>
          <p:nvPr/>
        </p:nvCxnSpPr>
        <p:spPr>
          <a:xfrm flipH="1">
            <a:off x="1576425" y="5414711"/>
            <a:ext cx="342351" cy="0"/>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37" name="line"/>
          <p:cNvCxnSpPr/>
          <p:nvPr/>
        </p:nvCxnSpPr>
        <p:spPr>
          <a:xfrm>
            <a:off x="1760768" y="5210616"/>
            <a:ext cx="237013" cy="0"/>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38" name="line"/>
          <p:cNvCxnSpPr/>
          <p:nvPr/>
        </p:nvCxnSpPr>
        <p:spPr>
          <a:xfrm>
            <a:off x="1997781" y="5210616"/>
            <a:ext cx="52669" cy="204095"/>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39" name="line"/>
          <p:cNvCxnSpPr/>
          <p:nvPr/>
        </p:nvCxnSpPr>
        <p:spPr>
          <a:xfrm flipH="1" flipV="1">
            <a:off x="1971446" y="5125029"/>
            <a:ext cx="26335" cy="85587"/>
          </a:xfrm>
          <a:prstGeom prst="line">
            <a:avLst/>
          </a:prstGeom>
          <a:ln w="21590">
            <a:solidFill>
              <a:srgbClr val="087B45"/>
            </a:solidFill>
          </a:ln>
        </p:spPr>
        <p:style>
          <a:lnRef idx="2">
            <a:schemeClr val="accent1"/>
          </a:lnRef>
          <a:fillRef idx="0">
            <a:schemeClr val="accent1"/>
          </a:fillRef>
          <a:effectRef idx="1">
            <a:schemeClr val="accent1"/>
          </a:effectRef>
          <a:fontRef idx="minor">
            <a:schemeClr val="tx1"/>
          </a:fontRef>
        </p:style>
      </p:cxnSp>
      <p:sp>
        <p:nvSpPr>
          <p:cNvPr id="40" name="shape"/>
          <p:cNvSpPr/>
          <p:nvPr/>
        </p:nvSpPr>
        <p:spPr>
          <a:xfrm>
            <a:off x="1820021" y="4940686"/>
            <a:ext cx="105338" cy="105338"/>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line"/>
          <p:cNvCxnSpPr/>
          <p:nvPr/>
        </p:nvCxnSpPr>
        <p:spPr>
          <a:xfrm flipH="1">
            <a:off x="1754184" y="5065776"/>
            <a:ext cx="105339" cy="105338"/>
          </a:xfrm>
          <a:prstGeom prst="line">
            <a:avLst/>
          </a:prstGeom>
          <a:ln w="2540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42" name="line"/>
          <p:cNvCxnSpPr/>
          <p:nvPr/>
        </p:nvCxnSpPr>
        <p:spPr>
          <a:xfrm>
            <a:off x="1859523" y="5065776"/>
            <a:ext cx="125090" cy="92171"/>
          </a:xfrm>
          <a:prstGeom prst="line">
            <a:avLst/>
          </a:prstGeom>
          <a:ln w="2540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43" name="line"/>
          <p:cNvCxnSpPr/>
          <p:nvPr/>
        </p:nvCxnSpPr>
        <p:spPr>
          <a:xfrm>
            <a:off x="1754184" y="5171114"/>
            <a:ext cx="98756" cy="118507"/>
          </a:xfrm>
          <a:prstGeom prst="line">
            <a:avLst/>
          </a:prstGeom>
          <a:ln w="25400">
            <a:solidFill>
              <a:srgbClr val="087B45"/>
            </a:solidFill>
          </a:ln>
        </p:spPr>
        <p:style>
          <a:lnRef idx="2">
            <a:schemeClr val="accent1"/>
          </a:lnRef>
          <a:fillRef idx="0">
            <a:schemeClr val="accent1"/>
          </a:fillRef>
          <a:effectRef idx="1">
            <a:schemeClr val="accent1"/>
          </a:effectRef>
          <a:fontRef idx="minor">
            <a:schemeClr val="tx1"/>
          </a:fontRef>
        </p:style>
      </p:cxnSp>
      <p:cxnSp>
        <p:nvCxnSpPr>
          <p:cNvPr id="44" name="line"/>
          <p:cNvCxnSpPr/>
          <p:nvPr/>
        </p:nvCxnSpPr>
        <p:spPr>
          <a:xfrm flipH="1">
            <a:off x="1813438" y="5289621"/>
            <a:ext cx="39502" cy="92171"/>
          </a:xfrm>
          <a:prstGeom prst="line">
            <a:avLst/>
          </a:prstGeom>
          <a:ln w="25400">
            <a:solidFill>
              <a:srgbClr val="087B45"/>
            </a:solidFill>
          </a:ln>
        </p:spPr>
        <p:style>
          <a:lnRef idx="2">
            <a:schemeClr val="accent1"/>
          </a:lnRef>
          <a:fillRef idx="0">
            <a:schemeClr val="accent1"/>
          </a:fillRef>
          <a:effectRef idx="1">
            <a:schemeClr val="accent1"/>
          </a:effectRef>
          <a:fontRef idx="minor">
            <a:schemeClr val="tx1"/>
          </a:fontRef>
        </p:style>
      </p:cxnSp>
      <p:sp>
        <p:nvSpPr>
          <p:cNvPr id="45" name="text"/>
          <p:cNvSpPr txBox="1"/>
          <p:nvPr/>
        </p:nvSpPr>
        <p:spPr>
          <a:xfrm>
            <a:off x="987552" y="4572000"/>
            <a:ext cx="2624328" cy="338328"/>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14231D"/>
                </a:solidFill>
                <a:latin typeface="Arial"/>
              </a:rPr>
              <a:t>1.5 m eye height</a:t>
            </a:r>
          </a:p>
        </p:txBody>
      </p:sp>
      <p:sp>
        <p:nvSpPr>
          <p:cNvPr id="46" name="shape"/>
          <p:cNvSpPr/>
          <p:nvPr/>
        </p:nvSpPr>
        <p:spPr>
          <a:xfrm>
            <a:off x="1490472" y="5687568"/>
            <a:ext cx="118872" cy="118872"/>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hape"/>
          <p:cNvSpPr/>
          <p:nvPr/>
        </p:nvSpPr>
        <p:spPr>
          <a:xfrm>
            <a:off x="2368296" y="5687568"/>
            <a:ext cx="118872" cy="118872"/>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hape"/>
          <p:cNvSpPr/>
          <p:nvPr/>
        </p:nvSpPr>
        <p:spPr>
          <a:xfrm>
            <a:off x="3246120" y="5687568"/>
            <a:ext cx="118872" cy="118872"/>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hape"/>
          <p:cNvSpPr/>
          <p:nvPr/>
        </p:nvSpPr>
        <p:spPr>
          <a:xfrm>
            <a:off x="4123944" y="5687568"/>
            <a:ext cx="118872" cy="118872"/>
          </a:xfrm>
          <a:prstGeom prst="ellipse">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hape"/>
          <p:cNvSpPr/>
          <p:nvPr/>
        </p:nvSpPr>
        <p:spPr>
          <a:xfrm>
            <a:off x="6757416" y="5687568"/>
            <a:ext cx="118872" cy="118872"/>
          </a:xfrm>
          <a:prstGeom prst="ellipse">
            <a:avLst/>
          </a:prstGeom>
          <a:solidFill>
            <a:srgbClr val="F3C7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hape"/>
          <p:cNvSpPr/>
          <p:nvPr/>
        </p:nvSpPr>
        <p:spPr>
          <a:xfrm>
            <a:off x="7635240" y="5687568"/>
            <a:ext cx="118872" cy="118872"/>
          </a:xfrm>
          <a:prstGeom prst="ellipse">
            <a:avLst/>
          </a:prstGeom>
          <a:solidFill>
            <a:srgbClr val="F3C7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
          <p:cNvSpPr txBox="1"/>
          <p:nvPr/>
        </p:nvSpPr>
        <p:spPr>
          <a:xfrm>
            <a:off x="2221992" y="6016752"/>
            <a:ext cx="2432304" cy="320040"/>
          </a:xfrm>
          <a:prstGeom prst="rect">
            <a:avLst/>
          </a:prstGeom>
          <a:noFill/>
        </p:spPr>
        <p:txBody>
          <a:bodyPr wrap="none" lIns="0" rIns="0" tIns="0" bIns="0" anchor="t">
            <a:spAutoFit/>
          </a:bodyPr>
          <a:lstStyle/>
          <a:p>
            <a:pPr algn="l">
              <a:lnSpc>
                <a:spcPts val="1954"/>
              </a:lnSpc>
              <a:spcBef>
                <a:spcPts val="0"/>
              </a:spcBef>
              <a:spcAft>
                <a:spcPts val="0"/>
              </a:spcAft>
            </a:pPr>
            <a:r>
              <a:rPr sz="1700" b="0">
                <a:solidFill>
                  <a:srgbClr val="087B45"/>
                </a:solidFill>
                <a:latin typeface="Arial"/>
              </a:rPr>
              <a:t>Shaded road samples</a:t>
            </a:r>
          </a:p>
        </p:txBody>
      </p:sp>
      <p:sp>
        <p:nvSpPr>
          <p:cNvPr id="53" name="card-shadow"/>
          <p:cNvSpPr/>
          <p:nvPr/>
        </p:nvSpPr>
        <p:spPr>
          <a:xfrm>
            <a:off x="9189719" y="2084832"/>
            <a:ext cx="4818888" cy="1545336"/>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ard"/>
          <p:cNvSpPr/>
          <p:nvPr/>
        </p:nvSpPr>
        <p:spPr>
          <a:xfrm>
            <a:off x="9153144" y="2029968"/>
            <a:ext cx="4818888" cy="1545336"/>
          </a:xfrm>
          <a:prstGeom prst="roundRect">
            <a:avLst>
              <a:gd name="adj" fmla="val 12000"/>
            </a:avLst>
          </a:prstGeom>
          <a:solidFill>
            <a:srgbClr val="E4F3E7"/>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
          <p:cNvSpPr txBox="1"/>
          <p:nvPr/>
        </p:nvSpPr>
        <p:spPr>
          <a:xfrm>
            <a:off x="9400032" y="2276856"/>
            <a:ext cx="4325112" cy="329184"/>
          </a:xfrm>
          <a:prstGeom prst="rect">
            <a:avLst/>
          </a:prstGeom>
          <a:noFill/>
        </p:spPr>
        <p:txBody>
          <a:bodyPr wrap="none" lIns="0" rIns="0" tIns="0" bIns="0" anchor="t">
            <a:spAutoFit/>
          </a:bodyPr>
          <a:lstStyle/>
          <a:p>
            <a:pPr algn="l">
              <a:lnSpc>
                <a:spcPts val="1954"/>
              </a:lnSpc>
              <a:spcBef>
                <a:spcPts val="0"/>
              </a:spcBef>
              <a:spcAft>
                <a:spcPts val="0"/>
              </a:spcAft>
            </a:pPr>
            <a:r>
              <a:rPr sz="1700" b="1">
                <a:solidFill>
                  <a:srgbClr val="087B45"/>
                </a:solidFill>
                <a:latin typeface="Arial"/>
              </a:rPr>
              <a:t>A POINT IS SHADED WHEN</a:t>
            </a:r>
          </a:p>
        </p:txBody>
      </p:sp>
      <p:sp>
        <p:nvSpPr>
          <p:cNvPr id="56" name="text"/>
          <p:cNvSpPr txBox="1"/>
          <p:nvPr/>
        </p:nvSpPr>
        <p:spPr>
          <a:xfrm>
            <a:off x="9400032" y="2788920"/>
            <a:ext cx="4325112" cy="457200"/>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14231D"/>
                </a:solidFill>
                <a:latin typeface="Arial"/>
              </a:rPr>
              <a:t>H(d) &gt; 1.5 m + d · tan(θ)</a:t>
            </a:r>
          </a:p>
        </p:txBody>
      </p:sp>
      <p:sp>
        <p:nvSpPr>
          <p:cNvPr id="57" name="text"/>
          <p:cNvSpPr txBox="1"/>
          <p:nvPr/>
        </p:nvSpPr>
        <p:spPr>
          <a:xfrm>
            <a:off x="9400032" y="3310128"/>
            <a:ext cx="4325112" cy="292608"/>
          </a:xfrm>
          <a:prstGeom prst="rect">
            <a:avLst/>
          </a:prstGeom>
          <a:noFill/>
        </p:spPr>
        <p:txBody>
          <a:bodyPr wrap="none" lIns="0" rIns="0" tIns="0" bIns="0" anchor="t">
            <a:spAutoFit/>
          </a:bodyPr>
          <a:lstStyle/>
          <a:p>
            <a:pPr algn="l">
              <a:lnSpc>
                <a:spcPts val="1839"/>
              </a:lnSpc>
              <a:spcBef>
                <a:spcPts val="0"/>
              </a:spcBef>
              <a:spcAft>
                <a:spcPts val="0"/>
              </a:spcAft>
            </a:pPr>
            <a:r>
              <a:rPr sz="1600" b="0">
                <a:solidFill>
                  <a:srgbClr val="607068"/>
                </a:solidFill>
                <a:latin typeface="Arial"/>
              </a:rPr>
              <a:t>θ = solar elevation; d = ray distance</a:t>
            </a:r>
          </a:p>
        </p:txBody>
      </p:sp>
      <p:sp>
        <p:nvSpPr>
          <p:cNvPr id="58" name="text"/>
          <p:cNvSpPr txBox="1"/>
          <p:nvPr/>
        </p:nvSpPr>
        <p:spPr>
          <a:xfrm>
            <a:off x="9180576" y="3831335"/>
            <a:ext cx="438912" cy="329184"/>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01</a:t>
            </a:r>
          </a:p>
        </p:txBody>
      </p:sp>
      <p:sp>
        <p:nvSpPr>
          <p:cNvPr id="59" name="text"/>
          <p:cNvSpPr txBox="1"/>
          <p:nvPr/>
        </p:nvSpPr>
        <p:spPr>
          <a:xfrm>
            <a:off x="9848088" y="3813048"/>
            <a:ext cx="4114800" cy="347472"/>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Solar geometry</a:t>
            </a:r>
          </a:p>
        </p:txBody>
      </p:sp>
      <p:sp>
        <p:nvSpPr>
          <p:cNvPr id="60" name="text"/>
          <p:cNvSpPr txBox="1"/>
          <p:nvPr/>
        </p:nvSpPr>
        <p:spPr>
          <a:xfrm>
            <a:off x="9848088" y="4160520"/>
            <a:ext cx="4114800" cy="301752"/>
          </a:xfrm>
          <a:prstGeom prst="rect">
            <a:avLst/>
          </a:prstGeom>
          <a:noFill/>
        </p:spPr>
        <p:txBody>
          <a:bodyPr wrap="none" lIns="0" rIns="0" tIns="0" bIns="0" anchor="t">
            <a:spAutoFit/>
          </a:bodyPr>
          <a:lstStyle/>
          <a:p>
            <a:pPr algn="l">
              <a:lnSpc>
                <a:spcPts val="1954"/>
              </a:lnSpc>
              <a:spcBef>
                <a:spcPts val="0"/>
              </a:spcBef>
              <a:spcAft>
                <a:spcPts val="0"/>
              </a:spcAft>
            </a:pPr>
            <a:r>
              <a:rPr sz="1700" b="0">
                <a:solidFill>
                  <a:srgbClr val="607068"/>
                </a:solidFill>
                <a:latin typeface="Arial"/>
              </a:rPr>
              <a:t>pvlib elevation + azimuth</a:t>
            </a:r>
          </a:p>
        </p:txBody>
      </p:sp>
      <p:sp>
        <p:nvSpPr>
          <p:cNvPr id="61" name="text"/>
          <p:cNvSpPr txBox="1"/>
          <p:nvPr/>
        </p:nvSpPr>
        <p:spPr>
          <a:xfrm>
            <a:off x="9180576" y="4471416"/>
            <a:ext cx="438912" cy="329184"/>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02</a:t>
            </a:r>
          </a:p>
        </p:txBody>
      </p:sp>
      <p:sp>
        <p:nvSpPr>
          <p:cNvPr id="62" name="text"/>
          <p:cNvSpPr txBox="1"/>
          <p:nvPr/>
        </p:nvSpPr>
        <p:spPr>
          <a:xfrm>
            <a:off x="9848088" y="4453128"/>
            <a:ext cx="4114800" cy="347472"/>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City geometry</a:t>
            </a:r>
          </a:p>
        </p:txBody>
      </p:sp>
      <p:sp>
        <p:nvSpPr>
          <p:cNvPr id="63" name="text"/>
          <p:cNvSpPr txBox="1"/>
          <p:nvPr/>
        </p:nvSpPr>
        <p:spPr>
          <a:xfrm>
            <a:off x="9848088" y="4800600"/>
            <a:ext cx="4114800" cy="301752"/>
          </a:xfrm>
          <a:prstGeom prst="rect">
            <a:avLst/>
          </a:prstGeom>
          <a:noFill/>
        </p:spPr>
        <p:txBody>
          <a:bodyPr wrap="none" lIns="0" rIns="0" tIns="0" bIns="0" anchor="t">
            <a:spAutoFit/>
          </a:bodyPr>
          <a:lstStyle/>
          <a:p>
            <a:pPr algn="l">
              <a:lnSpc>
                <a:spcPts val="1954"/>
              </a:lnSpc>
              <a:spcBef>
                <a:spcPts val="0"/>
              </a:spcBef>
              <a:spcAft>
                <a:spcPts val="0"/>
              </a:spcAft>
            </a:pPr>
            <a:r>
              <a:rPr sz="1700" b="0">
                <a:solidFill>
                  <a:srgbClr val="607068"/>
                </a:solidFill>
                <a:latin typeface="Arial"/>
              </a:rPr>
              <a:t>Building + tree height raster</a:t>
            </a:r>
          </a:p>
        </p:txBody>
      </p:sp>
      <p:sp>
        <p:nvSpPr>
          <p:cNvPr id="64" name="text"/>
          <p:cNvSpPr txBox="1"/>
          <p:nvPr/>
        </p:nvSpPr>
        <p:spPr>
          <a:xfrm>
            <a:off x="9180576" y="5111496"/>
            <a:ext cx="438912" cy="329184"/>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03</a:t>
            </a:r>
          </a:p>
        </p:txBody>
      </p:sp>
      <p:sp>
        <p:nvSpPr>
          <p:cNvPr id="65" name="text"/>
          <p:cNvSpPr txBox="1"/>
          <p:nvPr/>
        </p:nvSpPr>
        <p:spPr>
          <a:xfrm>
            <a:off x="9848088" y="5093208"/>
            <a:ext cx="4114800" cy="347472"/>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Shade fraction</a:t>
            </a:r>
          </a:p>
        </p:txBody>
      </p:sp>
      <p:sp>
        <p:nvSpPr>
          <p:cNvPr id="66" name="text"/>
          <p:cNvSpPr txBox="1"/>
          <p:nvPr/>
        </p:nvSpPr>
        <p:spPr>
          <a:xfrm>
            <a:off x="9848088" y="5440680"/>
            <a:ext cx="4114800" cy="301752"/>
          </a:xfrm>
          <a:prstGeom prst="rect">
            <a:avLst/>
          </a:prstGeom>
          <a:noFill/>
        </p:spPr>
        <p:txBody>
          <a:bodyPr wrap="none" lIns="0" rIns="0" tIns="0" bIns="0" anchor="t">
            <a:spAutoFit/>
          </a:bodyPr>
          <a:lstStyle/>
          <a:p>
            <a:pPr algn="l">
              <a:lnSpc>
                <a:spcPts val="1954"/>
              </a:lnSpc>
              <a:spcBef>
                <a:spcPts val="0"/>
              </a:spcBef>
              <a:spcAft>
                <a:spcPts val="0"/>
              </a:spcAft>
            </a:pPr>
            <a:r>
              <a:rPr sz="1700" b="0">
                <a:solidFill>
                  <a:srgbClr val="607068"/>
                </a:solidFill>
                <a:latin typeface="Arial"/>
              </a:rPr>
              <a:t>Shaded / total road samples</a:t>
            </a:r>
          </a:p>
        </p:txBody>
      </p:sp>
      <p:sp>
        <p:nvSpPr>
          <p:cNvPr id="67" name="text"/>
          <p:cNvSpPr txBox="1"/>
          <p:nvPr/>
        </p:nvSpPr>
        <p:spPr>
          <a:xfrm>
            <a:off x="9180576" y="5751575"/>
            <a:ext cx="438912" cy="329184"/>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04</a:t>
            </a:r>
          </a:p>
        </p:txBody>
      </p:sp>
      <p:sp>
        <p:nvSpPr>
          <p:cNvPr id="68" name="text"/>
          <p:cNvSpPr txBox="1"/>
          <p:nvPr/>
        </p:nvSpPr>
        <p:spPr>
          <a:xfrm>
            <a:off x="9848088" y="5733288"/>
            <a:ext cx="4114800" cy="347472"/>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Routing effect</a:t>
            </a:r>
          </a:p>
        </p:txBody>
      </p:sp>
      <p:sp>
        <p:nvSpPr>
          <p:cNvPr id="69" name="text"/>
          <p:cNvSpPr txBox="1"/>
          <p:nvPr/>
        </p:nvSpPr>
        <p:spPr>
          <a:xfrm>
            <a:off x="9848088" y="6080759"/>
            <a:ext cx="4114800" cy="301752"/>
          </a:xfrm>
          <a:prstGeom prst="rect">
            <a:avLst/>
          </a:prstGeom>
          <a:noFill/>
        </p:spPr>
        <p:txBody>
          <a:bodyPr wrap="none" lIns="0" rIns="0" tIns="0" bIns="0" anchor="t">
            <a:spAutoFit/>
          </a:bodyPr>
          <a:lstStyle/>
          <a:p>
            <a:pPr algn="l">
              <a:lnSpc>
                <a:spcPts val="1954"/>
              </a:lnSpc>
              <a:spcBef>
                <a:spcPts val="0"/>
              </a:spcBef>
              <a:spcAft>
                <a:spcPts val="0"/>
              </a:spcAft>
            </a:pPr>
            <a:r>
              <a:rPr sz="1700" b="0">
                <a:solidFill>
                  <a:srgbClr val="607068"/>
                </a:solidFill>
                <a:latin typeface="Arial"/>
              </a:rPr>
              <a:t>UTCI + UV → fuzzy cost → path</a:t>
            </a:r>
          </a:p>
        </p:txBody>
      </p:sp>
      <p:sp>
        <p:nvSpPr>
          <p:cNvPr id="70" name="text"/>
          <p:cNvSpPr txBox="1"/>
          <p:nvPr/>
        </p:nvSpPr>
        <p:spPr>
          <a:xfrm>
            <a:off x="658368" y="6693408"/>
            <a:ext cx="13313664" cy="493776"/>
          </a:xfrm>
          <a:prstGeom prst="rect">
            <a:avLst/>
          </a:prstGeom>
          <a:noFill/>
        </p:spPr>
        <p:txBody>
          <a:bodyPr wrap="none" lIns="0" rIns="0" tIns="0" bIns="0" anchor="t">
            <a:spAutoFit/>
          </a:bodyPr>
          <a:lstStyle/>
          <a:p>
            <a:pPr algn="l">
              <a:lnSpc>
                <a:spcPts val="2874"/>
              </a:lnSpc>
              <a:spcBef>
                <a:spcPts val="0"/>
              </a:spcBef>
              <a:spcAft>
                <a:spcPts val="0"/>
              </a:spcAft>
            </a:pPr>
            <a:r>
              <a:rPr sz="2500" b="1">
                <a:solidFill>
                  <a:srgbClr val="087B45"/>
                </a:solidFill>
                <a:latin typeface="Arial"/>
              </a:rPr>
              <a:t>Precompute 16 × 8 solar bins → look up shade at departure time</a:t>
            </a:r>
          </a:p>
        </p:txBody>
      </p:sp>
      <p:sp>
        <p:nvSpPr>
          <p:cNvPr id="71" name="text"/>
          <p:cNvSpPr txBox="1"/>
          <p:nvPr/>
        </p:nvSpPr>
        <p:spPr>
          <a:xfrm>
            <a:off x="658368" y="7287768"/>
            <a:ext cx="13313664" cy="301752"/>
          </a:xfrm>
          <a:prstGeom prst="rect">
            <a:avLst/>
          </a:prstGeom>
          <a:noFill/>
        </p:spPr>
        <p:txBody>
          <a:bodyPr wrap="none" lIns="0" rIns="0" tIns="0" bIns="0" anchor="t">
            <a:spAutoFit/>
          </a:bodyPr>
          <a:lstStyle/>
          <a:p>
            <a:pPr algn="l">
              <a:lnSpc>
                <a:spcPts val="1954"/>
              </a:lnSpc>
              <a:spcBef>
                <a:spcPts val="0"/>
              </a:spcBef>
              <a:spcAft>
                <a:spcPts val="0"/>
              </a:spcAft>
            </a:pPr>
            <a:r>
              <a:rPr sz="1700" b="0">
                <a:solidFill>
                  <a:srgbClr val="607068"/>
                </a:solidFill>
                <a:latin typeface="Arial"/>
              </a:rPr>
              <a:t>2 m raster / ray steps  ·  120 m ray range  ·  road samples at most 15 m apart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087B45"/>
                </a:solidFill>
                <a:latin typeface="Arial"/>
              </a:rPr>
              <a:t>THE DEMO / ROUTE COMPARISON</a:t>
            </a:r>
          </a:p>
        </p:txBody>
      </p:sp>
      <p:sp>
        <p:nvSpPr>
          <p:cNvPr id="4" name="slide-title"/>
          <p:cNvSpPr txBox="1"/>
          <p:nvPr/>
        </p:nvSpPr>
        <p:spPr>
          <a:xfrm>
            <a:off x="658368" y="868680"/>
            <a:ext cx="13313664" cy="692023"/>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14231D"/>
                </a:solidFill>
                <a:latin typeface="Arial"/>
              </a:rPr>
              <a:t>Same city. Different route.</a:t>
            </a:r>
          </a:p>
        </p:txBody>
      </p:sp>
      <p:cxnSp>
        <p:nvCxnSpPr>
          <p:cNvPr id="5" name="line"/>
          <p:cNvCxnSpPr/>
          <p:nvPr/>
        </p:nvCxnSpPr>
        <p:spPr>
          <a:xfrm>
            <a:off x="658368" y="7754112"/>
            <a:ext cx="13313664" cy="0"/>
          </a:xfrm>
          <a:prstGeom prst="line">
            <a:avLst/>
          </a:prstGeom>
          <a:ln w="10160">
            <a:solidFill>
              <a:srgbClr val="D9E2D9"/>
            </a:solidFill>
          </a:ln>
        </p:spPr>
        <p:style>
          <a:lnRef idx="2">
            <a:schemeClr val="accent1"/>
          </a:lnRef>
          <a:fillRef idx="0">
            <a:schemeClr val="accent1"/>
          </a:fillRef>
          <a:effectRef idx="1">
            <a:schemeClr val="accent1"/>
          </a:effectRef>
          <a:fontRef idx="minor">
            <a:schemeClr val="tx1"/>
          </a:fontRef>
        </p:style>
      </p:cxnSp>
      <p:sp>
        <p:nvSpPr>
          <p:cNvPr id="6"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607068"/>
                </a:solidFill>
                <a:latin typeface="Arial"/>
              </a:rPr>
              <a:t>BiKing  /  HackYeah 2026</a:t>
            </a:r>
          </a:p>
        </p:txBody>
      </p:sp>
      <p:sp>
        <p:nvSpPr>
          <p:cNvPr id="7"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607068"/>
                </a:solidFill>
                <a:latin typeface="Arial"/>
              </a:rPr>
              <a:t>07 / 10</a:t>
            </a:r>
          </a:p>
        </p:txBody>
      </p:sp>
      <p:cxnSp>
        <p:nvCxnSpPr>
          <p:cNvPr id="8" name="line"/>
          <p:cNvCxnSpPr/>
          <p:nvPr/>
        </p:nvCxnSpPr>
        <p:spPr>
          <a:xfrm>
            <a:off x="685800" y="2029968"/>
            <a:ext cx="594360" cy="0"/>
          </a:xfrm>
          <a:prstGeom prst="line">
            <a:avLst/>
          </a:prstGeom>
          <a:ln w="38100">
            <a:solidFill>
              <a:srgbClr val="F4A259"/>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1444752" y="1847088"/>
            <a:ext cx="1856231" cy="402336"/>
          </a:xfrm>
          <a:prstGeom prst="rect">
            <a:avLst/>
          </a:prstGeom>
          <a:noFill/>
        </p:spPr>
        <p:txBody>
          <a:bodyPr wrap="none" lIns="0" rIns="0" tIns="0" bIns="0" anchor="t">
            <a:spAutoFit/>
          </a:bodyPr>
          <a:lstStyle/>
          <a:p>
            <a:pPr algn="l">
              <a:lnSpc>
                <a:spcPts val="2300"/>
              </a:lnSpc>
              <a:spcBef>
                <a:spcPts val="0"/>
              </a:spcBef>
              <a:spcAft>
                <a:spcPts val="0"/>
              </a:spcAft>
            </a:pPr>
            <a:r>
              <a:rPr sz="2000" b="1">
                <a:solidFill>
                  <a:srgbClr val="14231D"/>
                </a:solidFill>
                <a:latin typeface="Arial"/>
              </a:rPr>
              <a:t>Fastest</a:t>
            </a:r>
          </a:p>
        </p:txBody>
      </p:sp>
      <p:cxnSp>
        <p:nvCxnSpPr>
          <p:cNvPr id="10" name="line"/>
          <p:cNvCxnSpPr/>
          <p:nvPr/>
        </p:nvCxnSpPr>
        <p:spPr>
          <a:xfrm>
            <a:off x="3319272" y="2029968"/>
            <a:ext cx="603504" cy="0"/>
          </a:xfrm>
          <a:prstGeom prst="line">
            <a:avLst/>
          </a:prstGeom>
          <a:ln w="38100">
            <a:solidFill>
              <a:srgbClr val="4393C3"/>
            </a:solidFill>
          </a:ln>
        </p:spPr>
        <p:style>
          <a:lnRef idx="2">
            <a:schemeClr val="accent1"/>
          </a:lnRef>
          <a:fillRef idx="0">
            <a:schemeClr val="accent1"/>
          </a:fillRef>
          <a:effectRef idx="1">
            <a:schemeClr val="accent1"/>
          </a:effectRef>
          <a:fontRef idx="minor">
            <a:schemeClr val="tx1"/>
          </a:fontRef>
        </p:style>
      </p:cxnSp>
      <p:sp>
        <p:nvSpPr>
          <p:cNvPr id="11" name="text"/>
          <p:cNvSpPr txBox="1"/>
          <p:nvPr/>
        </p:nvSpPr>
        <p:spPr>
          <a:xfrm>
            <a:off x="4096512" y="1847088"/>
            <a:ext cx="5349240" cy="402336"/>
          </a:xfrm>
          <a:prstGeom prst="rect">
            <a:avLst/>
          </a:prstGeom>
          <a:noFill/>
        </p:spPr>
        <p:txBody>
          <a:bodyPr wrap="none" lIns="0" rIns="0" tIns="0" bIns="0" anchor="t">
            <a:spAutoFit/>
          </a:bodyPr>
          <a:lstStyle/>
          <a:p>
            <a:pPr algn="l">
              <a:lnSpc>
                <a:spcPts val="2300"/>
              </a:lnSpc>
              <a:spcBef>
                <a:spcPts val="0"/>
              </a:spcBef>
              <a:spcAft>
                <a:spcPts val="0"/>
              </a:spcAft>
            </a:pPr>
            <a:r>
              <a:rPr sz="2000" b="1">
                <a:solidFill>
                  <a:srgbClr val="14231D"/>
                </a:solidFill>
                <a:latin typeface="Arial"/>
              </a:rPr>
              <a:t>More comfortable</a:t>
            </a:r>
          </a:p>
        </p:txBody>
      </p:sp>
      <p:sp>
        <p:nvSpPr>
          <p:cNvPr id="12" name="card-shadow"/>
          <p:cNvSpPr/>
          <p:nvPr/>
        </p:nvSpPr>
        <p:spPr>
          <a:xfrm>
            <a:off x="694944" y="2459736"/>
            <a:ext cx="9473184" cy="4242816"/>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rd"/>
          <p:cNvSpPr/>
          <p:nvPr/>
        </p:nvSpPr>
        <p:spPr>
          <a:xfrm>
            <a:off x="658368" y="2404872"/>
            <a:ext cx="9473184" cy="4242816"/>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screenshot-route_comparison.png" descr="route_comparison.png"/>
          <p:cNvPicPr>
            <a:picLocks noChangeAspect="1"/>
          </p:cNvPicPr>
          <p:nvPr/>
        </p:nvPicPr>
        <p:blipFill>
          <a:blip r:embed="rId2"/>
          <a:srcRect/>
          <a:stretch>
            <a:fillRect/>
          </a:stretch>
        </p:blipFill>
        <p:spPr>
          <a:xfrm>
            <a:off x="2107426" y="2514600"/>
            <a:ext cx="6575067" cy="4023359"/>
          </a:xfrm>
          <a:prstGeom prst="rect">
            <a:avLst/>
          </a:prstGeom>
        </p:spPr>
      </p:pic>
      <p:sp>
        <p:nvSpPr>
          <p:cNvPr id="15" name="card-shadow"/>
          <p:cNvSpPr/>
          <p:nvPr/>
        </p:nvSpPr>
        <p:spPr>
          <a:xfrm>
            <a:off x="10479024" y="1938528"/>
            <a:ext cx="3529584" cy="1078992"/>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cNvSpPr/>
          <p:nvPr/>
        </p:nvSpPr>
        <p:spPr>
          <a:xfrm>
            <a:off x="10442448" y="1883664"/>
            <a:ext cx="3529584" cy="1078992"/>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p:cNvSpPr txBox="1"/>
          <p:nvPr/>
        </p:nvSpPr>
        <p:spPr>
          <a:xfrm>
            <a:off x="10652760" y="1993392"/>
            <a:ext cx="3090672" cy="320040"/>
          </a:xfrm>
          <a:prstGeom prst="rect">
            <a:avLst/>
          </a:prstGeom>
          <a:noFill/>
        </p:spPr>
        <p:txBody>
          <a:bodyPr wrap="none" lIns="0" rIns="0" tIns="0" bIns="0" anchor="t">
            <a:spAutoFit/>
          </a:bodyPr>
          <a:lstStyle/>
          <a:p>
            <a:pPr algn="l">
              <a:lnSpc>
                <a:spcPts val="2185"/>
              </a:lnSpc>
              <a:spcBef>
                <a:spcPts val="0"/>
              </a:spcBef>
              <a:spcAft>
                <a:spcPts val="0"/>
              </a:spcAft>
            </a:pPr>
            <a:r>
              <a:rPr sz="1900" b="1">
                <a:solidFill>
                  <a:srgbClr val="14231D"/>
                </a:solidFill>
                <a:latin typeface="Arial"/>
              </a:rPr>
              <a:t>Travel time</a:t>
            </a:r>
          </a:p>
        </p:txBody>
      </p:sp>
      <p:sp>
        <p:nvSpPr>
          <p:cNvPr id="18" name="text"/>
          <p:cNvSpPr txBox="1"/>
          <p:nvPr/>
        </p:nvSpPr>
        <p:spPr>
          <a:xfrm>
            <a:off x="10652760" y="2322576"/>
            <a:ext cx="3090672" cy="347472"/>
          </a:xfrm>
          <a:prstGeom prst="rect">
            <a:avLst/>
          </a:prstGeom>
          <a:noFill/>
        </p:spPr>
        <p:txBody>
          <a:bodyPr wrap="none" lIns="0" rIns="0" tIns="0" bIns="0" anchor="t">
            <a:spAutoFit/>
          </a:bodyPr>
          <a:lstStyle/>
          <a:p>
            <a:pPr algn="l">
              <a:lnSpc>
                <a:spcPts val="1954"/>
              </a:lnSpc>
              <a:spcBef>
                <a:spcPts val="0"/>
              </a:spcBef>
              <a:spcAft>
                <a:spcPts val="0"/>
              </a:spcAft>
            </a:pPr>
            <a:r>
              <a:rPr sz="1700" b="1">
                <a:solidFill>
                  <a:srgbClr val="087B45"/>
                </a:solidFill>
                <a:latin typeface="Arial"/>
              </a:rPr>
              <a:t>Fastest 17.3  /  BiKing 22.2</a:t>
            </a:r>
          </a:p>
        </p:txBody>
      </p:sp>
      <p:sp>
        <p:nvSpPr>
          <p:cNvPr id="19" name="text"/>
          <p:cNvSpPr txBox="1"/>
          <p:nvPr/>
        </p:nvSpPr>
        <p:spPr>
          <a:xfrm>
            <a:off x="10652760" y="2706624"/>
            <a:ext cx="3090672" cy="265176"/>
          </a:xfrm>
          <a:prstGeom prst="rect">
            <a:avLst/>
          </a:prstGeom>
          <a:noFill/>
        </p:spPr>
        <p:txBody>
          <a:bodyPr wrap="none" lIns="0" rIns="0" tIns="0" bIns="0" anchor="t">
            <a:spAutoFit/>
          </a:bodyPr>
          <a:lstStyle/>
          <a:p>
            <a:pPr algn="l">
              <a:lnSpc>
                <a:spcPts val="1782"/>
              </a:lnSpc>
              <a:spcBef>
                <a:spcPts val="0"/>
              </a:spcBef>
              <a:spcAft>
                <a:spcPts val="0"/>
              </a:spcAft>
            </a:pPr>
            <a:r>
              <a:rPr sz="1550" b="0">
                <a:solidFill>
                  <a:srgbClr val="607068"/>
                </a:solidFill>
                <a:latin typeface="Arial"/>
              </a:rPr>
              <a:t>min</a:t>
            </a:r>
          </a:p>
        </p:txBody>
      </p:sp>
      <p:sp>
        <p:nvSpPr>
          <p:cNvPr id="20" name="card-shadow"/>
          <p:cNvSpPr/>
          <p:nvPr/>
        </p:nvSpPr>
        <p:spPr>
          <a:xfrm>
            <a:off x="10479024" y="3145536"/>
            <a:ext cx="3529584" cy="1078992"/>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p:cNvSpPr/>
          <p:nvPr/>
        </p:nvSpPr>
        <p:spPr>
          <a:xfrm>
            <a:off x="10442448" y="3090672"/>
            <a:ext cx="3529584" cy="1078992"/>
          </a:xfrm>
          <a:prstGeom prst="roundRect">
            <a:avLst>
              <a:gd name="adj" fmla="val 12000"/>
            </a:avLst>
          </a:prstGeom>
          <a:solidFill>
            <a:srgbClr val="E4F3E7"/>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10652760" y="3200400"/>
            <a:ext cx="3090672" cy="320040"/>
          </a:xfrm>
          <a:prstGeom prst="rect">
            <a:avLst/>
          </a:prstGeom>
          <a:noFill/>
        </p:spPr>
        <p:txBody>
          <a:bodyPr wrap="none" lIns="0" rIns="0" tIns="0" bIns="0" anchor="t">
            <a:spAutoFit/>
          </a:bodyPr>
          <a:lstStyle/>
          <a:p>
            <a:pPr algn="l">
              <a:lnSpc>
                <a:spcPts val="2185"/>
              </a:lnSpc>
              <a:spcBef>
                <a:spcPts val="0"/>
              </a:spcBef>
              <a:spcAft>
                <a:spcPts val="0"/>
              </a:spcAft>
            </a:pPr>
            <a:r>
              <a:rPr sz="1900" b="1">
                <a:solidFill>
                  <a:srgbClr val="14231D"/>
                </a:solidFill>
                <a:latin typeface="Arial"/>
              </a:rPr>
              <a:t>Shade</a:t>
            </a:r>
          </a:p>
        </p:txBody>
      </p:sp>
      <p:sp>
        <p:nvSpPr>
          <p:cNvPr id="23" name="text"/>
          <p:cNvSpPr txBox="1"/>
          <p:nvPr/>
        </p:nvSpPr>
        <p:spPr>
          <a:xfrm>
            <a:off x="10652760" y="3529584"/>
            <a:ext cx="3090672" cy="347472"/>
          </a:xfrm>
          <a:prstGeom prst="rect">
            <a:avLst/>
          </a:prstGeom>
          <a:noFill/>
        </p:spPr>
        <p:txBody>
          <a:bodyPr wrap="none" lIns="0" rIns="0" tIns="0" bIns="0" anchor="t">
            <a:spAutoFit/>
          </a:bodyPr>
          <a:lstStyle/>
          <a:p>
            <a:pPr algn="l">
              <a:lnSpc>
                <a:spcPts val="1954"/>
              </a:lnSpc>
              <a:spcBef>
                <a:spcPts val="0"/>
              </a:spcBef>
              <a:spcAft>
                <a:spcPts val="0"/>
              </a:spcAft>
            </a:pPr>
            <a:r>
              <a:rPr sz="1700" b="1">
                <a:solidFill>
                  <a:srgbClr val="087B45"/>
                </a:solidFill>
                <a:latin typeface="Arial"/>
              </a:rPr>
              <a:t>Fastest 12  /  BiKing 47</a:t>
            </a:r>
          </a:p>
        </p:txBody>
      </p:sp>
      <p:sp>
        <p:nvSpPr>
          <p:cNvPr id="24" name="text"/>
          <p:cNvSpPr txBox="1"/>
          <p:nvPr/>
        </p:nvSpPr>
        <p:spPr>
          <a:xfrm>
            <a:off x="10652760" y="3913632"/>
            <a:ext cx="3090672" cy="265176"/>
          </a:xfrm>
          <a:prstGeom prst="rect">
            <a:avLst/>
          </a:prstGeom>
          <a:noFill/>
        </p:spPr>
        <p:txBody>
          <a:bodyPr wrap="none" lIns="0" rIns="0" tIns="0" bIns="0" anchor="t">
            <a:spAutoFit/>
          </a:bodyPr>
          <a:lstStyle/>
          <a:p>
            <a:pPr algn="l">
              <a:lnSpc>
                <a:spcPts val="1782"/>
              </a:lnSpc>
              <a:spcBef>
                <a:spcPts val="0"/>
              </a:spcBef>
              <a:spcAft>
                <a:spcPts val="0"/>
              </a:spcAft>
            </a:pPr>
            <a:r>
              <a:rPr sz="1550" b="0">
                <a:solidFill>
                  <a:srgbClr val="607068"/>
                </a:solidFill>
                <a:latin typeface="Arial"/>
              </a:rPr>
              <a:t>% of ride</a:t>
            </a:r>
          </a:p>
        </p:txBody>
      </p:sp>
      <p:sp>
        <p:nvSpPr>
          <p:cNvPr id="25" name="card-shadow"/>
          <p:cNvSpPr/>
          <p:nvPr/>
        </p:nvSpPr>
        <p:spPr>
          <a:xfrm>
            <a:off x="10479024" y="4352544"/>
            <a:ext cx="3529584" cy="1078992"/>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rd"/>
          <p:cNvSpPr/>
          <p:nvPr/>
        </p:nvSpPr>
        <p:spPr>
          <a:xfrm>
            <a:off x="10442448" y="4297680"/>
            <a:ext cx="3529584" cy="1078992"/>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10652760" y="4407408"/>
            <a:ext cx="3090672" cy="320040"/>
          </a:xfrm>
          <a:prstGeom prst="rect">
            <a:avLst/>
          </a:prstGeom>
          <a:noFill/>
        </p:spPr>
        <p:txBody>
          <a:bodyPr wrap="none" lIns="0" rIns="0" tIns="0" bIns="0" anchor="t">
            <a:spAutoFit/>
          </a:bodyPr>
          <a:lstStyle/>
          <a:p>
            <a:pPr algn="l">
              <a:lnSpc>
                <a:spcPts val="2185"/>
              </a:lnSpc>
              <a:spcBef>
                <a:spcPts val="0"/>
              </a:spcBef>
              <a:spcAft>
                <a:spcPts val="0"/>
              </a:spcAft>
            </a:pPr>
            <a:r>
              <a:rPr sz="1900" b="1">
                <a:solidFill>
                  <a:srgbClr val="14231D"/>
                </a:solidFill>
                <a:latin typeface="Arial"/>
              </a:rPr>
              <a:t>Felt temperature</a:t>
            </a:r>
          </a:p>
        </p:txBody>
      </p:sp>
      <p:sp>
        <p:nvSpPr>
          <p:cNvPr id="28" name="text"/>
          <p:cNvSpPr txBox="1"/>
          <p:nvPr/>
        </p:nvSpPr>
        <p:spPr>
          <a:xfrm>
            <a:off x="10652760" y="4736592"/>
            <a:ext cx="3090672" cy="347472"/>
          </a:xfrm>
          <a:prstGeom prst="rect">
            <a:avLst/>
          </a:prstGeom>
          <a:noFill/>
        </p:spPr>
        <p:txBody>
          <a:bodyPr wrap="none" lIns="0" rIns="0" tIns="0" bIns="0" anchor="t">
            <a:spAutoFit/>
          </a:bodyPr>
          <a:lstStyle/>
          <a:p>
            <a:pPr algn="l">
              <a:lnSpc>
                <a:spcPts val="1954"/>
              </a:lnSpc>
              <a:spcBef>
                <a:spcPts val="0"/>
              </a:spcBef>
              <a:spcAft>
                <a:spcPts val="0"/>
              </a:spcAft>
            </a:pPr>
            <a:r>
              <a:rPr sz="1700" b="1">
                <a:solidFill>
                  <a:srgbClr val="087B45"/>
                </a:solidFill>
                <a:latin typeface="Arial"/>
              </a:rPr>
              <a:t>Fastest 36.9  /  BiKing 34.8</a:t>
            </a:r>
          </a:p>
        </p:txBody>
      </p:sp>
      <p:sp>
        <p:nvSpPr>
          <p:cNvPr id="29" name="text"/>
          <p:cNvSpPr txBox="1"/>
          <p:nvPr/>
        </p:nvSpPr>
        <p:spPr>
          <a:xfrm>
            <a:off x="10652760" y="5120640"/>
            <a:ext cx="3090672" cy="265176"/>
          </a:xfrm>
          <a:prstGeom prst="rect">
            <a:avLst/>
          </a:prstGeom>
          <a:noFill/>
        </p:spPr>
        <p:txBody>
          <a:bodyPr wrap="none" lIns="0" rIns="0" tIns="0" bIns="0" anchor="t">
            <a:spAutoFit/>
          </a:bodyPr>
          <a:lstStyle/>
          <a:p>
            <a:pPr algn="l">
              <a:lnSpc>
                <a:spcPts val="1782"/>
              </a:lnSpc>
              <a:spcBef>
                <a:spcPts val="0"/>
              </a:spcBef>
              <a:spcAft>
                <a:spcPts val="0"/>
              </a:spcAft>
            </a:pPr>
            <a:r>
              <a:rPr sz="1550" b="0">
                <a:solidFill>
                  <a:srgbClr val="607068"/>
                </a:solidFill>
                <a:latin typeface="Arial"/>
              </a:rPr>
              <a:t>°C / UTCI model</a:t>
            </a:r>
          </a:p>
        </p:txBody>
      </p:sp>
      <p:sp>
        <p:nvSpPr>
          <p:cNvPr id="30" name="card-shadow"/>
          <p:cNvSpPr/>
          <p:nvPr/>
        </p:nvSpPr>
        <p:spPr>
          <a:xfrm>
            <a:off x="10479024" y="5559551"/>
            <a:ext cx="3529584" cy="1078992"/>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ard"/>
          <p:cNvSpPr/>
          <p:nvPr/>
        </p:nvSpPr>
        <p:spPr>
          <a:xfrm>
            <a:off x="10442448" y="5504688"/>
            <a:ext cx="3529584" cy="1078992"/>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p:cNvSpPr txBox="1"/>
          <p:nvPr/>
        </p:nvSpPr>
        <p:spPr>
          <a:xfrm>
            <a:off x="10652760" y="5614416"/>
            <a:ext cx="3090672" cy="320040"/>
          </a:xfrm>
          <a:prstGeom prst="rect">
            <a:avLst/>
          </a:prstGeom>
          <a:noFill/>
        </p:spPr>
        <p:txBody>
          <a:bodyPr wrap="none" lIns="0" rIns="0" tIns="0" bIns="0" anchor="t">
            <a:spAutoFit/>
          </a:bodyPr>
          <a:lstStyle/>
          <a:p>
            <a:pPr algn="l">
              <a:lnSpc>
                <a:spcPts val="2185"/>
              </a:lnSpc>
              <a:spcBef>
                <a:spcPts val="0"/>
              </a:spcBef>
              <a:spcAft>
                <a:spcPts val="0"/>
              </a:spcAft>
            </a:pPr>
            <a:r>
              <a:rPr sz="1900" b="1">
                <a:solidFill>
                  <a:srgbClr val="14231D"/>
                </a:solidFill>
                <a:latin typeface="Arial"/>
              </a:rPr>
              <a:t>PM2.5 dose</a:t>
            </a:r>
          </a:p>
        </p:txBody>
      </p:sp>
      <p:sp>
        <p:nvSpPr>
          <p:cNvPr id="33" name="text"/>
          <p:cNvSpPr txBox="1"/>
          <p:nvPr/>
        </p:nvSpPr>
        <p:spPr>
          <a:xfrm>
            <a:off x="10652760" y="5943600"/>
            <a:ext cx="3090672" cy="347472"/>
          </a:xfrm>
          <a:prstGeom prst="rect">
            <a:avLst/>
          </a:prstGeom>
          <a:noFill/>
        </p:spPr>
        <p:txBody>
          <a:bodyPr wrap="none" lIns="0" rIns="0" tIns="0" bIns="0" anchor="t">
            <a:spAutoFit/>
          </a:bodyPr>
          <a:lstStyle/>
          <a:p>
            <a:pPr algn="l">
              <a:lnSpc>
                <a:spcPts val="1954"/>
              </a:lnSpc>
              <a:spcBef>
                <a:spcPts val="0"/>
              </a:spcBef>
              <a:spcAft>
                <a:spcPts val="0"/>
              </a:spcAft>
            </a:pPr>
            <a:r>
              <a:rPr sz="1700" b="1">
                <a:solidFill>
                  <a:srgbClr val="087B45"/>
                </a:solidFill>
                <a:latin typeface="Arial"/>
              </a:rPr>
              <a:t>Fastest 5.1  /  BiKing 6.0</a:t>
            </a:r>
          </a:p>
        </p:txBody>
      </p:sp>
      <p:sp>
        <p:nvSpPr>
          <p:cNvPr id="34" name="text"/>
          <p:cNvSpPr txBox="1"/>
          <p:nvPr/>
        </p:nvSpPr>
        <p:spPr>
          <a:xfrm>
            <a:off x="10652760" y="6327648"/>
            <a:ext cx="3090672" cy="265176"/>
          </a:xfrm>
          <a:prstGeom prst="rect">
            <a:avLst/>
          </a:prstGeom>
          <a:noFill/>
        </p:spPr>
        <p:txBody>
          <a:bodyPr wrap="none" lIns="0" rIns="0" tIns="0" bIns="0" anchor="t">
            <a:spAutoFit/>
          </a:bodyPr>
          <a:lstStyle/>
          <a:p>
            <a:pPr algn="l">
              <a:lnSpc>
                <a:spcPts val="1782"/>
              </a:lnSpc>
              <a:spcBef>
                <a:spcPts val="0"/>
              </a:spcBef>
              <a:spcAft>
                <a:spcPts val="0"/>
              </a:spcAft>
            </a:pPr>
            <a:r>
              <a:rPr sz="1550" b="0">
                <a:solidFill>
                  <a:srgbClr val="607068"/>
                </a:solidFill>
                <a:latin typeface="Arial"/>
              </a:rPr>
              <a:t>µg / model estimate</a:t>
            </a:r>
          </a:p>
        </p:txBody>
      </p:sp>
      <p:sp>
        <p:nvSpPr>
          <p:cNvPr id="35" name="text"/>
          <p:cNvSpPr txBox="1"/>
          <p:nvPr/>
        </p:nvSpPr>
        <p:spPr>
          <a:xfrm>
            <a:off x="658368" y="6839712"/>
            <a:ext cx="9473184" cy="338328"/>
          </a:xfrm>
          <a:prstGeom prst="rect">
            <a:avLst/>
          </a:prstGeom>
          <a:noFill/>
        </p:spPr>
        <p:txBody>
          <a:bodyPr wrap="none" lIns="0" rIns="0" tIns="0" bIns="0" anchor="t">
            <a:spAutoFit/>
          </a:bodyPr>
          <a:lstStyle/>
          <a:p>
            <a:pPr algn="l">
              <a:lnSpc>
                <a:spcPts val="1839"/>
              </a:lnSpc>
              <a:spcBef>
                <a:spcPts val="0"/>
              </a:spcBef>
              <a:spcAft>
                <a:spcPts val="0"/>
              </a:spcAft>
            </a:pPr>
            <a:r>
              <a:rPr sz="1600" b="0">
                <a:solidFill>
                  <a:srgbClr val="607068"/>
                </a:solidFill>
                <a:latin typeface="Arial"/>
              </a:rPr>
              <a:t>Same A/B points.  Map © OpenStreetMap contributors.</a:t>
            </a:r>
          </a:p>
        </p:txBody>
      </p:sp>
      <p:sp>
        <p:nvSpPr>
          <p:cNvPr id="36" name="text"/>
          <p:cNvSpPr txBox="1"/>
          <p:nvPr/>
        </p:nvSpPr>
        <p:spPr>
          <a:xfrm>
            <a:off x="10451592" y="6830568"/>
            <a:ext cx="3511296" cy="320040"/>
          </a:xfrm>
          <a:prstGeom prst="rect">
            <a:avLst/>
          </a:prstGeom>
          <a:noFill/>
        </p:spPr>
        <p:txBody>
          <a:bodyPr wrap="none" lIns="0" rIns="0" tIns="0" bIns="0" anchor="t">
            <a:spAutoFit/>
          </a:bodyPr>
          <a:lstStyle/>
          <a:p>
            <a:pPr algn="l">
              <a:lnSpc>
                <a:spcPts val="1725"/>
              </a:lnSpc>
              <a:spcBef>
                <a:spcPts val="0"/>
              </a:spcBef>
              <a:spcAft>
                <a:spcPts val="0"/>
              </a:spcAft>
            </a:pPr>
            <a:r>
              <a:rPr sz="1500" b="0">
                <a:solidFill>
                  <a:srgbClr val="607068"/>
                </a:solidFill>
                <a:latin typeface="Arial"/>
              </a:rPr>
              <a:t>Values from the route cards</a:t>
            </a:r>
          </a:p>
        </p:txBody>
      </p:sp>
      <p:sp>
        <p:nvSpPr>
          <p:cNvPr id="37" name="text"/>
          <p:cNvSpPr txBox="1"/>
          <p:nvPr/>
        </p:nvSpPr>
        <p:spPr>
          <a:xfrm>
            <a:off x="658368" y="7306056"/>
            <a:ext cx="13313664" cy="438912"/>
          </a:xfrm>
          <a:prstGeom prst="rect">
            <a:avLst/>
          </a:prstGeom>
          <a:noFill/>
        </p:spPr>
        <p:txBody>
          <a:bodyPr wrap="none" lIns="0" rIns="0" tIns="0" bIns="0" anchor="t">
            <a:spAutoFit/>
          </a:bodyPr>
          <a:lstStyle/>
          <a:p>
            <a:pPr algn="l">
              <a:lnSpc>
                <a:spcPts val="2874"/>
              </a:lnSpc>
              <a:spcBef>
                <a:spcPts val="0"/>
              </a:spcBef>
              <a:spcAft>
                <a:spcPts val="0"/>
              </a:spcAft>
            </a:pPr>
            <a:r>
              <a:rPr sz="2500" b="1">
                <a:solidFill>
                  <a:srgbClr val="087B45"/>
                </a:solidFill>
                <a:latin typeface="Arial"/>
              </a:rPr>
              <a:t>Environmental conditions can change the path itself.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087B45"/>
                </a:solidFill>
                <a:latin typeface="Arial"/>
              </a:rPr>
              <a:t>THE EXPERIENCE</a:t>
            </a:r>
          </a:p>
        </p:txBody>
      </p:sp>
      <p:sp>
        <p:nvSpPr>
          <p:cNvPr id="4" name="slide-title"/>
          <p:cNvSpPr txBox="1"/>
          <p:nvPr/>
        </p:nvSpPr>
        <p:spPr>
          <a:xfrm>
            <a:off x="658368" y="868680"/>
            <a:ext cx="13313664" cy="1232408"/>
          </a:xfrm>
          <a:prstGeom prst="rect">
            <a:avLst/>
          </a:prstGeom>
          <a:noFill/>
        </p:spPr>
        <p:txBody>
          <a:bodyPr wrap="none" lIns="0" rIns="0" tIns="0" bIns="0" anchor="t">
            <a:spAutoFit/>
          </a:bodyPr>
          <a:lstStyle/>
          <a:p>
            <a:pPr algn="l">
              <a:lnSpc>
                <a:spcPts val="4600"/>
              </a:lnSpc>
              <a:spcBef>
                <a:spcPts val="0"/>
              </a:spcBef>
              <a:spcAft>
                <a:spcPts val="0"/>
              </a:spcAft>
            </a:pPr>
            <a:r>
              <a:rPr sz="4000" b="1">
                <a:solidFill>
                  <a:srgbClr val="14231D"/>
                </a:solidFill>
                <a:latin typeface="Arial"/>
              </a:rPr>
              <a:t>Complexity under the hood.</a:t>
            </a:r>
          </a:p>
          <a:p>
            <a:pPr algn="l">
              <a:lnSpc>
                <a:spcPts val="4600"/>
              </a:lnSpc>
              <a:spcBef>
                <a:spcPts val="0"/>
              </a:spcBef>
              <a:spcAft>
                <a:spcPts val="0"/>
              </a:spcAft>
            </a:pPr>
            <a:r>
              <a:rPr sz="4000" b="1">
                <a:solidFill>
                  <a:srgbClr val="14231D"/>
                </a:solidFill>
                <a:latin typeface="Arial"/>
              </a:rPr>
              <a:t>Simple for the cyclist.</a:t>
            </a:r>
          </a:p>
        </p:txBody>
      </p:sp>
      <p:cxnSp>
        <p:nvCxnSpPr>
          <p:cNvPr id="5" name="line"/>
          <p:cNvCxnSpPr/>
          <p:nvPr/>
        </p:nvCxnSpPr>
        <p:spPr>
          <a:xfrm>
            <a:off x="658368" y="7754112"/>
            <a:ext cx="13313664" cy="0"/>
          </a:xfrm>
          <a:prstGeom prst="line">
            <a:avLst/>
          </a:prstGeom>
          <a:ln w="10160">
            <a:solidFill>
              <a:srgbClr val="D9E2D9"/>
            </a:solidFill>
          </a:ln>
        </p:spPr>
        <p:style>
          <a:lnRef idx="2">
            <a:schemeClr val="accent1"/>
          </a:lnRef>
          <a:fillRef idx="0">
            <a:schemeClr val="accent1"/>
          </a:fillRef>
          <a:effectRef idx="1">
            <a:schemeClr val="accent1"/>
          </a:effectRef>
          <a:fontRef idx="minor">
            <a:schemeClr val="tx1"/>
          </a:fontRef>
        </p:style>
      </p:cxnSp>
      <p:sp>
        <p:nvSpPr>
          <p:cNvPr id="6"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607068"/>
                </a:solidFill>
                <a:latin typeface="Arial"/>
              </a:rPr>
              <a:t>BiKing  /  HackYeah 2026</a:t>
            </a:r>
          </a:p>
        </p:txBody>
      </p:sp>
      <p:sp>
        <p:nvSpPr>
          <p:cNvPr id="7"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607068"/>
                </a:solidFill>
                <a:latin typeface="Arial"/>
              </a:rPr>
              <a:t>08 / 10</a:t>
            </a:r>
          </a:p>
        </p:txBody>
      </p:sp>
      <p:sp>
        <p:nvSpPr>
          <p:cNvPr id="8" name="text"/>
          <p:cNvSpPr txBox="1"/>
          <p:nvPr/>
        </p:nvSpPr>
        <p:spPr>
          <a:xfrm>
            <a:off x="658368" y="2487168"/>
            <a:ext cx="9473184" cy="484632"/>
          </a:xfrm>
          <a:prstGeom prst="rect">
            <a:avLst/>
          </a:prstGeom>
          <a:noFill/>
        </p:spPr>
        <p:txBody>
          <a:bodyPr wrap="none" lIns="0" rIns="0" tIns="0" bIns="0" anchor="t">
            <a:spAutoFit/>
          </a:bodyPr>
          <a:lstStyle/>
          <a:p>
            <a:pPr algn="l">
              <a:lnSpc>
                <a:spcPts val="3334"/>
              </a:lnSpc>
              <a:spcBef>
                <a:spcPts val="0"/>
              </a:spcBef>
              <a:spcAft>
                <a:spcPts val="0"/>
              </a:spcAft>
            </a:pPr>
            <a:r>
              <a:rPr sz="2900" b="1">
                <a:solidFill>
                  <a:srgbClr val="087B45"/>
                </a:solidFill>
                <a:latin typeface="Arial"/>
              </a:rPr>
              <a:t>What does the detour buy?</a:t>
            </a:r>
          </a:p>
        </p:txBody>
      </p:sp>
      <p:sp>
        <p:nvSpPr>
          <p:cNvPr id="9" name="card-shadow"/>
          <p:cNvSpPr/>
          <p:nvPr/>
        </p:nvSpPr>
        <p:spPr>
          <a:xfrm>
            <a:off x="694944" y="3246120"/>
            <a:ext cx="3044952" cy="1216152"/>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cNvSpPr/>
          <p:nvPr/>
        </p:nvSpPr>
        <p:spPr>
          <a:xfrm>
            <a:off x="658368" y="3191256"/>
            <a:ext cx="3044952" cy="1216152"/>
          </a:xfrm>
          <a:prstGeom prst="roundRect">
            <a:avLst>
              <a:gd name="adj" fmla="val 12000"/>
            </a:avLst>
          </a:prstGeom>
          <a:solidFill>
            <a:srgbClr val="E4F3E7"/>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859536" y="3364992"/>
            <a:ext cx="2642616" cy="539496"/>
          </a:xfrm>
          <a:prstGeom prst="rect">
            <a:avLst/>
          </a:prstGeom>
          <a:noFill/>
        </p:spPr>
        <p:txBody>
          <a:bodyPr wrap="none" lIns="0" rIns="0" tIns="0" bIns="0" anchor="t">
            <a:spAutoFit/>
          </a:bodyPr>
          <a:lstStyle/>
          <a:p>
            <a:pPr algn="l">
              <a:lnSpc>
                <a:spcPts val="3679"/>
              </a:lnSpc>
              <a:spcBef>
                <a:spcPts val="0"/>
              </a:spcBef>
              <a:spcAft>
                <a:spcPts val="0"/>
              </a:spcAft>
            </a:pPr>
            <a:r>
              <a:rPr sz="3200" b="1">
                <a:solidFill>
                  <a:srgbClr val="087B45"/>
                </a:solidFill>
                <a:latin typeface="Arial"/>
              </a:rPr>
              <a:t>+35 pp</a:t>
            </a:r>
          </a:p>
        </p:txBody>
      </p:sp>
      <p:sp>
        <p:nvSpPr>
          <p:cNvPr id="12" name="text"/>
          <p:cNvSpPr txBox="1"/>
          <p:nvPr/>
        </p:nvSpPr>
        <p:spPr>
          <a:xfrm>
            <a:off x="859536" y="3986784"/>
            <a:ext cx="2642616" cy="301752"/>
          </a:xfrm>
          <a:prstGeom prst="rect">
            <a:avLst/>
          </a:prstGeom>
          <a:noFill/>
        </p:spPr>
        <p:txBody>
          <a:bodyPr wrap="none" lIns="0" rIns="0" tIns="0" bIns="0" anchor="t">
            <a:spAutoFit/>
          </a:bodyPr>
          <a:lstStyle/>
          <a:p>
            <a:pPr algn="l">
              <a:lnSpc>
                <a:spcPts val="1839"/>
              </a:lnSpc>
              <a:spcBef>
                <a:spcPts val="0"/>
              </a:spcBef>
              <a:spcAft>
                <a:spcPts val="0"/>
              </a:spcAft>
            </a:pPr>
            <a:r>
              <a:rPr sz="1600" b="0">
                <a:solidFill>
                  <a:srgbClr val="607068"/>
                </a:solidFill>
                <a:latin typeface="Arial"/>
              </a:rPr>
              <a:t>Shade on the ride</a:t>
            </a:r>
          </a:p>
        </p:txBody>
      </p:sp>
      <p:sp>
        <p:nvSpPr>
          <p:cNvPr id="13" name="card-shadow"/>
          <p:cNvSpPr/>
          <p:nvPr/>
        </p:nvSpPr>
        <p:spPr>
          <a:xfrm>
            <a:off x="3895344" y="3246120"/>
            <a:ext cx="3044952" cy="1216152"/>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
          <p:cNvSpPr/>
          <p:nvPr/>
        </p:nvSpPr>
        <p:spPr>
          <a:xfrm>
            <a:off x="3858768" y="3191256"/>
            <a:ext cx="3044952" cy="1216152"/>
          </a:xfrm>
          <a:prstGeom prst="roundRect">
            <a:avLst>
              <a:gd name="adj" fmla="val 12000"/>
            </a:avLst>
          </a:prstGeom>
          <a:solidFill>
            <a:srgbClr val="E4F3E7"/>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4059935" y="3364992"/>
            <a:ext cx="2642616" cy="539496"/>
          </a:xfrm>
          <a:prstGeom prst="rect">
            <a:avLst/>
          </a:prstGeom>
          <a:noFill/>
        </p:spPr>
        <p:txBody>
          <a:bodyPr wrap="none" lIns="0" rIns="0" tIns="0" bIns="0" anchor="t">
            <a:spAutoFit/>
          </a:bodyPr>
          <a:lstStyle/>
          <a:p>
            <a:pPr algn="l">
              <a:lnSpc>
                <a:spcPts val="3679"/>
              </a:lnSpc>
              <a:spcBef>
                <a:spcPts val="0"/>
              </a:spcBef>
              <a:spcAft>
                <a:spcPts val="0"/>
              </a:spcAft>
            </a:pPr>
            <a:r>
              <a:rPr sz="3200" b="1">
                <a:solidFill>
                  <a:srgbClr val="087B45"/>
                </a:solidFill>
                <a:latin typeface="Arial"/>
              </a:rPr>
              <a:t>−2.1°C</a:t>
            </a:r>
          </a:p>
        </p:txBody>
      </p:sp>
      <p:sp>
        <p:nvSpPr>
          <p:cNvPr id="16" name="text"/>
          <p:cNvSpPr txBox="1"/>
          <p:nvPr/>
        </p:nvSpPr>
        <p:spPr>
          <a:xfrm>
            <a:off x="4059935" y="3986784"/>
            <a:ext cx="2642616" cy="301752"/>
          </a:xfrm>
          <a:prstGeom prst="rect">
            <a:avLst/>
          </a:prstGeom>
          <a:noFill/>
        </p:spPr>
        <p:txBody>
          <a:bodyPr wrap="none" lIns="0" rIns="0" tIns="0" bIns="0" anchor="t">
            <a:spAutoFit/>
          </a:bodyPr>
          <a:lstStyle/>
          <a:p>
            <a:pPr algn="l">
              <a:lnSpc>
                <a:spcPts val="1839"/>
              </a:lnSpc>
              <a:spcBef>
                <a:spcPts val="0"/>
              </a:spcBef>
              <a:spcAft>
                <a:spcPts val="0"/>
              </a:spcAft>
            </a:pPr>
            <a:r>
              <a:rPr sz="1600" b="0">
                <a:solidFill>
                  <a:srgbClr val="607068"/>
                </a:solidFill>
                <a:latin typeface="Arial"/>
              </a:rPr>
              <a:t>Felt temperature / UTCI</a:t>
            </a:r>
          </a:p>
        </p:txBody>
      </p:sp>
      <p:sp>
        <p:nvSpPr>
          <p:cNvPr id="17" name="card-shadow"/>
          <p:cNvSpPr/>
          <p:nvPr/>
        </p:nvSpPr>
        <p:spPr>
          <a:xfrm>
            <a:off x="7095744" y="3246120"/>
            <a:ext cx="3044952" cy="1216152"/>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d"/>
          <p:cNvSpPr/>
          <p:nvPr/>
        </p:nvSpPr>
        <p:spPr>
          <a:xfrm>
            <a:off x="7059168" y="3191256"/>
            <a:ext cx="3044952" cy="1216152"/>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p:cNvSpPr txBox="1"/>
          <p:nvPr/>
        </p:nvSpPr>
        <p:spPr>
          <a:xfrm>
            <a:off x="7260336" y="3364992"/>
            <a:ext cx="2642616" cy="539496"/>
          </a:xfrm>
          <a:prstGeom prst="rect">
            <a:avLst/>
          </a:prstGeom>
          <a:noFill/>
        </p:spPr>
        <p:txBody>
          <a:bodyPr wrap="none" lIns="0" rIns="0" tIns="0" bIns="0" anchor="t">
            <a:spAutoFit/>
          </a:bodyPr>
          <a:lstStyle/>
          <a:p>
            <a:pPr algn="l">
              <a:lnSpc>
                <a:spcPts val="3679"/>
              </a:lnSpc>
              <a:spcBef>
                <a:spcPts val="0"/>
              </a:spcBef>
              <a:spcAft>
                <a:spcPts val="0"/>
              </a:spcAft>
            </a:pPr>
            <a:r>
              <a:rPr sz="3200" b="1">
                <a:solidFill>
                  <a:srgbClr val="087B45"/>
                </a:solidFill>
                <a:latin typeface="Arial"/>
              </a:rPr>
              <a:t>+4.9 min</a:t>
            </a:r>
          </a:p>
        </p:txBody>
      </p:sp>
      <p:sp>
        <p:nvSpPr>
          <p:cNvPr id="20" name="text"/>
          <p:cNvSpPr txBox="1"/>
          <p:nvPr/>
        </p:nvSpPr>
        <p:spPr>
          <a:xfrm>
            <a:off x="7260336" y="3986784"/>
            <a:ext cx="2642616" cy="301752"/>
          </a:xfrm>
          <a:prstGeom prst="rect">
            <a:avLst/>
          </a:prstGeom>
          <a:noFill/>
        </p:spPr>
        <p:txBody>
          <a:bodyPr wrap="none" lIns="0" rIns="0" tIns="0" bIns="0" anchor="t">
            <a:spAutoFit/>
          </a:bodyPr>
          <a:lstStyle/>
          <a:p>
            <a:pPr algn="l">
              <a:lnSpc>
                <a:spcPts val="1839"/>
              </a:lnSpc>
              <a:spcBef>
                <a:spcPts val="0"/>
              </a:spcBef>
              <a:spcAft>
                <a:spcPts val="0"/>
              </a:spcAft>
            </a:pPr>
            <a:r>
              <a:rPr sz="1600" b="0">
                <a:solidFill>
                  <a:srgbClr val="607068"/>
                </a:solidFill>
                <a:latin typeface="Arial"/>
              </a:rPr>
              <a:t>Travel time / +28%</a:t>
            </a:r>
          </a:p>
        </p:txBody>
      </p:sp>
      <p:sp>
        <p:nvSpPr>
          <p:cNvPr id="21" name="shape"/>
          <p:cNvSpPr/>
          <p:nvPr/>
        </p:nvSpPr>
        <p:spPr>
          <a:xfrm>
            <a:off x="658368" y="4663440"/>
            <a:ext cx="9473184" cy="1188720"/>
          </a:xfrm>
          <a:prstGeom prst="roundRect">
            <a:avLst>
              <a:gd name="adj" fmla="val 12000"/>
            </a:avLst>
          </a:prstGeom>
          <a:solidFill>
            <a:srgbClr val="FFF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914400" y="4846320"/>
            <a:ext cx="8961120" cy="438912"/>
          </a:xfrm>
          <a:prstGeom prst="rect">
            <a:avLst/>
          </a:prstGeom>
          <a:noFill/>
        </p:spPr>
        <p:txBody>
          <a:bodyPr wrap="none" lIns="0" rIns="0" tIns="0" bIns="0" anchor="t">
            <a:spAutoFit/>
          </a:bodyPr>
          <a:lstStyle/>
          <a:p>
            <a:pPr algn="l">
              <a:lnSpc>
                <a:spcPts val="2874"/>
              </a:lnSpc>
              <a:spcBef>
                <a:spcPts val="0"/>
              </a:spcBef>
              <a:spcAft>
                <a:spcPts val="0"/>
              </a:spcAft>
            </a:pPr>
            <a:r>
              <a:rPr sz="2500" b="1">
                <a:solidFill>
                  <a:srgbClr val="14231D"/>
                </a:solidFill>
                <a:latin typeface="Arial"/>
              </a:rPr>
              <a:t>PM2.5 dose: 5.1 → 6.0 µg (+18%)</a:t>
            </a:r>
          </a:p>
        </p:txBody>
      </p:sp>
      <p:sp>
        <p:nvSpPr>
          <p:cNvPr id="23" name="text"/>
          <p:cNvSpPr txBox="1"/>
          <p:nvPr/>
        </p:nvSpPr>
        <p:spPr>
          <a:xfrm>
            <a:off x="914400" y="5440680"/>
            <a:ext cx="8961120" cy="310896"/>
          </a:xfrm>
          <a:prstGeom prst="rect">
            <a:avLst/>
          </a:prstGeom>
          <a:noFill/>
        </p:spPr>
        <p:txBody>
          <a:bodyPr wrap="none" lIns="0" rIns="0" tIns="0" bIns="0" anchor="t">
            <a:spAutoFit/>
          </a:bodyPr>
          <a:lstStyle/>
          <a:p>
            <a:pPr algn="l">
              <a:lnSpc>
                <a:spcPts val="2070"/>
              </a:lnSpc>
              <a:spcBef>
                <a:spcPts val="0"/>
              </a:spcBef>
              <a:spcAft>
                <a:spcPts val="0"/>
              </a:spcAft>
            </a:pPr>
            <a:r>
              <a:rPr sz="1800" b="0">
                <a:solidFill>
                  <a:srgbClr val="607068"/>
                </a:solidFill>
                <a:latin typeface="Arial"/>
              </a:rPr>
              <a:t>Longer exposure can increase the total inhaled dose.</a:t>
            </a:r>
          </a:p>
        </p:txBody>
      </p:sp>
      <p:sp>
        <p:nvSpPr>
          <p:cNvPr id="24" name="text"/>
          <p:cNvSpPr txBox="1"/>
          <p:nvPr/>
        </p:nvSpPr>
        <p:spPr>
          <a:xfrm>
            <a:off x="658368" y="6263640"/>
            <a:ext cx="9473184" cy="393192"/>
          </a:xfrm>
          <a:prstGeom prst="rect">
            <a:avLst/>
          </a:prstGeom>
          <a:noFill/>
        </p:spPr>
        <p:txBody>
          <a:bodyPr wrap="none" lIns="0" rIns="0" tIns="0" bIns="0" anchor="t">
            <a:spAutoFit/>
          </a:bodyPr>
          <a:lstStyle/>
          <a:p>
            <a:pPr algn="l">
              <a:lnSpc>
                <a:spcPts val="2760"/>
              </a:lnSpc>
              <a:spcBef>
                <a:spcPts val="0"/>
              </a:spcBef>
              <a:spcAft>
                <a:spcPts val="0"/>
              </a:spcAft>
            </a:pPr>
            <a:r>
              <a:rPr sz="2400" b="1">
                <a:solidFill>
                  <a:srgbClr val="14231D"/>
                </a:solidFill>
                <a:latin typeface="Arial"/>
              </a:rPr>
              <a:t>You control the balance.</a:t>
            </a:r>
          </a:p>
        </p:txBody>
      </p:sp>
      <p:sp>
        <p:nvSpPr>
          <p:cNvPr id="25" name="text"/>
          <p:cNvSpPr txBox="1"/>
          <p:nvPr/>
        </p:nvSpPr>
        <p:spPr>
          <a:xfrm>
            <a:off x="658368" y="6757416"/>
            <a:ext cx="9473184" cy="338328"/>
          </a:xfrm>
          <a:prstGeom prst="rect">
            <a:avLst/>
          </a:prstGeom>
          <a:noFill/>
        </p:spPr>
        <p:txBody>
          <a:bodyPr wrap="none" lIns="0" rIns="0" tIns="0" bIns="0" anchor="t">
            <a:spAutoFit/>
          </a:bodyPr>
          <a:lstStyle/>
          <a:p>
            <a:pPr algn="l">
              <a:lnSpc>
                <a:spcPts val="2185"/>
              </a:lnSpc>
              <a:spcBef>
                <a:spcPts val="0"/>
              </a:spcBef>
              <a:spcAft>
                <a:spcPts val="0"/>
              </a:spcAft>
            </a:pPr>
            <a:r>
              <a:rPr sz="1900" b="0">
                <a:solidFill>
                  <a:srgbClr val="607068"/>
                </a:solidFill>
                <a:latin typeface="Arial"/>
              </a:rPr>
              <a:t>Comfort slider · street explanations · GPX export</a:t>
            </a:r>
          </a:p>
        </p:txBody>
      </p:sp>
      <p:sp>
        <p:nvSpPr>
          <p:cNvPr id="26" name="shape"/>
          <p:cNvSpPr/>
          <p:nvPr/>
        </p:nvSpPr>
        <p:spPr>
          <a:xfrm>
            <a:off x="658368" y="7232904"/>
            <a:ext cx="4142232" cy="393192"/>
          </a:xfrm>
          <a:prstGeom prst="roundRect">
            <a:avLst>
              <a:gd name="adj" fmla="val 12000"/>
            </a:avLst>
          </a:prstGeom>
          <a:solidFill>
            <a:srgbClr val="E4F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768096" y="7319772"/>
            <a:ext cx="3922776" cy="256032"/>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087B45"/>
                </a:solidFill>
                <a:latin typeface="Arial"/>
              </a:rPr>
              <a:t>ACCESSIBLE COLOURS + TEXT</a:t>
            </a:r>
          </a:p>
        </p:txBody>
      </p:sp>
      <p:sp>
        <p:nvSpPr>
          <p:cNvPr id="28" name="card-shadow"/>
          <p:cNvSpPr/>
          <p:nvPr/>
        </p:nvSpPr>
        <p:spPr>
          <a:xfrm>
            <a:off x="10479024" y="2496312"/>
            <a:ext cx="3529584" cy="5093208"/>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rd"/>
          <p:cNvSpPr/>
          <p:nvPr/>
        </p:nvSpPr>
        <p:spPr>
          <a:xfrm>
            <a:off x="10442448" y="2441448"/>
            <a:ext cx="3529584" cy="5093208"/>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screenshot-route_detail.png" descr="route_detail.png"/>
          <p:cNvPicPr>
            <a:picLocks noChangeAspect="1"/>
          </p:cNvPicPr>
          <p:nvPr/>
        </p:nvPicPr>
        <p:blipFill>
          <a:blip r:embed="rId2"/>
          <a:srcRect/>
          <a:stretch>
            <a:fillRect/>
          </a:stretch>
        </p:blipFill>
        <p:spPr>
          <a:xfrm>
            <a:off x="11054242" y="2551176"/>
            <a:ext cx="2305995" cy="48737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087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087B45"/>
                </a:solidFill>
                <a:latin typeface="Arial"/>
              </a:rPr>
              <a:t>IMPLEMENTATION / INTEGRATED PROTOTYPE</a:t>
            </a:r>
          </a:p>
        </p:txBody>
      </p:sp>
      <p:sp>
        <p:nvSpPr>
          <p:cNvPr id="4" name="slide-title"/>
          <p:cNvSpPr txBox="1"/>
          <p:nvPr/>
        </p:nvSpPr>
        <p:spPr>
          <a:xfrm>
            <a:off x="658368" y="868680"/>
            <a:ext cx="13313664" cy="692023"/>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14231D"/>
                </a:solidFill>
                <a:latin typeface="Arial"/>
              </a:rPr>
              <a:t>What we actually built.</a:t>
            </a:r>
          </a:p>
        </p:txBody>
      </p:sp>
      <p:sp>
        <p:nvSpPr>
          <p:cNvPr id="5" name="text"/>
          <p:cNvSpPr txBox="1"/>
          <p:nvPr/>
        </p:nvSpPr>
        <p:spPr>
          <a:xfrm>
            <a:off x="658368" y="1664208"/>
            <a:ext cx="13258800" cy="420624"/>
          </a:xfrm>
          <a:prstGeom prst="rect">
            <a:avLst/>
          </a:prstGeom>
          <a:noFill/>
        </p:spPr>
        <p:txBody>
          <a:bodyPr wrap="none" lIns="0" rIns="0" tIns="0" bIns="0" anchor="t">
            <a:spAutoFit/>
          </a:bodyPr>
          <a:lstStyle/>
          <a:p>
            <a:pPr algn="l">
              <a:lnSpc>
                <a:spcPts val="2415"/>
              </a:lnSpc>
              <a:spcBef>
                <a:spcPts val="0"/>
              </a:spcBef>
              <a:spcAft>
                <a:spcPts val="0"/>
              </a:spcAft>
            </a:pPr>
            <a:r>
              <a:rPr sz="2100" b="0">
                <a:solidFill>
                  <a:srgbClr val="607068"/>
                </a:solidFill>
                <a:latin typeface="Arial"/>
              </a:rPr>
              <a:t>A working code path from city data to a cyclist's route choice.</a:t>
            </a:r>
          </a:p>
        </p:txBody>
      </p:sp>
      <p:cxnSp>
        <p:nvCxnSpPr>
          <p:cNvPr id="6" name="line"/>
          <p:cNvCxnSpPr/>
          <p:nvPr/>
        </p:nvCxnSpPr>
        <p:spPr>
          <a:xfrm>
            <a:off x="658368" y="7754112"/>
            <a:ext cx="13313664" cy="0"/>
          </a:xfrm>
          <a:prstGeom prst="line">
            <a:avLst/>
          </a:prstGeom>
          <a:ln w="10160">
            <a:solidFill>
              <a:srgbClr val="D9E2D9"/>
            </a:solidFill>
          </a:ln>
        </p:spPr>
        <p:style>
          <a:lnRef idx="2">
            <a:schemeClr val="accent1"/>
          </a:lnRef>
          <a:fillRef idx="0">
            <a:schemeClr val="accent1"/>
          </a:fillRef>
          <a:effectRef idx="1">
            <a:schemeClr val="accent1"/>
          </a:effectRef>
          <a:fontRef idx="minor">
            <a:schemeClr val="tx1"/>
          </a:fontRef>
        </p:style>
      </p:cxnSp>
      <p:sp>
        <p:nvSpPr>
          <p:cNvPr id="7"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607068"/>
                </a:solidFill>
                <a:latin typeface="Arial"/>
              </a:rPr>
              <a:t>BiKing  /  HackYeah 2026</a:t>
            </a:r>
          </a:p>
        </p:txBody>
      </p:sp>
      <p:sp>
        <p:nvSpPr>
          <p:cNvPr id="8"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607068"/>
                </a:solidFill>
                <a:latin typeface="Arial"/>
              </a:rPr>
              <a:t>09 / 10</a:t>
            </a:r>
          </a:p>
        </p:txBody>
      </p:sp>
      <p:sp>
        <p:nvSpPr>
          <p:cNvPr id="9" name="text"/>
          <p:cNvSpPr txBox="1"/>
          <p:nvPr/>
        </p:nvSpPr>
        <p:spPr>
          <a:xfrm>
            <a:off x="658368" y="2148840"/>
            <a:ext cx="8138160" cy="338328"/>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087B45"/>
                </a:solidFill>
                <a:latin typeface="Arial"/>
              </a:rPr>
              <a:t>OUR IMPLEMENTATION</a:t>
            </a:r>
          </a:p>
        </p:txBody>
      </p:sp>
      <p:sp>
        <p:nvSpPr>
          <p:cNvPr id="10" name="card-shadow"/>
          <p:cNvSpPr/>
          <p:nvPr/>
        </p:nvSpPr>
        <p:spPr>
          <a:xfrm>
            <a:off x="694944" y="2761488"/>
            <a:ext cx="8147304" cy="768096"/>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p:cNvSpPr/>
          <p:nvPr/>
        </p:nvSpPr>
        <p:spPr>
          <a:xfrm>
            <a:off x="658368" y="2706624"/>
            <a:ext cx="8147304" cy="768096"/>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886968" y="2889504"/>
            <a:ext cx="566928" cy="374904"/>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087B45"/>
                </a:solidFill>
                <a:latin typeface="Arial"/>
              </a:rPr>
              <a:t>01</a:t>
            </a:r>
          </a:p>
        </p:txBody>
      </p:sp>
      <p:sp>
        <p:nvSpPr>
          <p:cNvPr id="13" name="text"/>
          <p:cNvSpPr txBox="1"/>
          <p:nvPr/>
        </p:nvSpPr>
        <p:spPr>
          <a:xfrm>
            <a:off x="1691640" y="2798064"/>
            <a:ext cx="6748272" cy="320040"/>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Browser interface</a:t>
            </a:r>
          </a:p>
        </p:txBody>
      </p:sp>
      <p:sp>
        <p:nvSpPr>
          <p:cNvPr id="14" name="text"/>
          <p:cNvSpPr txBox="1"/>
          <p:nvPr/>
        </p:nvSpPr>
        <p:spPr>
          <a:xfrm>
            <a:off x="1691640" y="3154680"/>
            <a:ext cx="6748272" cy="274320"/>
          </a:xfrm>
          <a:prstGeom prst="rect">
            <a:avLst/>
          </a:prstGeom>
          <a:noFill/>
        </p:spPr>
        <p:txBody>
          <a:bodyPr wrap="none" lIns="0" rIns="0" tIns="0" bIns="0" anchor="t">
            <a:spAutoFit/>
          </a:bodyPr>
          <a:lstStyle/>
          <a:p>
            <a:pPr algn="l">
              <a:lnSpc>
                <a:spcPts val="1897"/>
              </a:lnSpc>
              <a:spcBef>
                <a:spcPts val="0"/>
              </a:spcBef>
              <a:spcAft>
                <a:spcPts val="0"/>
              </a:spcAft>
            </a:pPr>
            <a:r>
              <a:rPr sz="1650" b="0">
                <a:solidFill>
                  <a:srgbClr val="607068"/>
                </a:solidFill>
                <a:latin typeface="Arial"/>
              </a:rPr>
              <a:t>HTML / CSS / JS · comparison · slider · GPX export</a:t>
            </a:r>
          </a:p>
        </p:txBody>
      </p:sp>
      <p:cxnSp>
        <p:nvCxnSpPr>
          <p:cNvPr id="15" name="line"/>
          <p:cNvCxnSpPr/>
          <p:nvPr/>
        </p:nvCxnSpPr>
        <p:spPr>
          <a:xfrm>
            <a:off x="1152144" y="3474720"/>
            <a:ext cx="0" cy="128016"/>
          </a:xfrm>
          <a:prstGeom prst="line">
            <a:avLst/>
          </a:prstGeom>
          <a:ln w="15240">
            <a:solidFill>
              <a:srgbClr val="087B45"/>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card-shadow"/>
          <p:cNvSpPr/>
          <p:nvPr/>
        </p:nvSpPr>
        <p:spPr>
          <a:xfrm>
            <a:off x="694944" y="3675887"/>
            <a:ext cx="8147304" cy="768096"/>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cNvSpPr/>
          <p:nvPr/>
        </p:nvSpPr>
        <p:spPr>
          <a:xfrm>
            <a:off x="658368" y="3621024"/>
            <a:ext cx="8147304" cy="768096"/>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886968" y="3803904"/>
            <a:ext cx="566928" cy="374904"/>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087B45"/>
                </a:solidFill>
                <a:latin typeface="Arial"/>
              </a:rPr>
              <a:t>02</a:t>
            </a:r>
          </a:p>
        </p:txBody>
      </p:sp>
      <p:sp>
        <p:nvSpPr>
          <p:cNvPr id="19" name="text"/>
          <p:cNvSpPr txBox="1"/>
          <p:nvPr/>
        </p:nvSpPr>
        <p:spPr>
          <a:xfrm>
            <a:off x="1691640" y="3712463"/>
            <a:ext cx="6748272" cy="320040"/>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API + application engine</a:t>
            </a:r>
          </a:p>
        </p:txBody>
      </p:sp>
      <p:sp>
        <p:nvSpPr>
          <p:cNvPr id="20" name="text"/>
          <p:cNvSpPr txBox="1"/>
          <p:nvPr/>
        </p:nvSpPr>
        <p:spPr>
          <a:xfrm>
            <a:off x="1691640" y="4069080"/>
            <a:ext cx="6748272" cy="274320"/>
          </a:xfrm>
          <a:prstGeom prst="rect">
            <a:avLst/>
          </a:prstGeom>
          <a:noFill/>
        </p:spPr>
        <p:txBody>
          <a:bodyPr wrap="none" lIns="0" rIns="0" tIns="0" bIns="0" anchor="t">
            <a:spAutoFit/>
          </a:bodyPr>
          <a:lstStyle/>
          <a:p>
            <a:pPr algn="l">
              <a:lnSpc>
                <a:spcPts val="1897"/>
              </a:lnSpc>
              <a:spcBef>
                <a:spcPts val="0"/>
              </a:spcBef>
              <a:spcAft>
                <a:spcPts val="0"/>
              </a:spcAft>
            </a:pPr>
            <a:r>
              <a:rPr sz="1650" b="0">
                <a:solidFill>
                  <a:srgbClr val="607068"/>
                </a:solidFill>
                <a:latin typeface="Arial"/>
              </a:rPr>
              <a:t>Validation · orchestration · route metrics · explanations</a:t>
            </a:r>
          </a:p>
        </p:txBody>
      </p:sp>
      <p:cxnSp>
        <p:nvCxnSpPr>
          <p:cNvPr id="21" name="line"/>
          <p:cNvCxnSpPr/>
          <p:nvPr/>
        </p:nvCxnSpPr>
        <p:spPr>
          <a:xfrm>
            <a:off x="1152144" y="4389120"/>
            <a:ext cx="0" cy="128016"/>
          </a:xfrm>
          <a:prstGeom prst="line">
            <a:avLst/>
          </a:prstGeom>
          <a:ln w="15240">
            <a:solidFill>
              <a:srgbClr val="087B45"/>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card-shadow"/>
          <p:cNvSpPr/>
          <p:nvPr/>
        </p:nvSpPr>
        <p:spPr>
          <a:xfrm>
            <a:off x="694944" y="4590288"/>
            <a:ext cx="8147304" cy="768096"/>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p:cNvSpPr/>
          <p:nvPr/>
        </p:nvSpPr>
        <p:spPr>
          <a:xfrm>
            <a:off x="658368" y="4535424"/>
            <a:ext cx="8147304" cy="768096"/>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886968" y="4718304"/>
            <a:ext cx="566928" cy="374904"/>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087B45"/>
                </a:solidFill>
                <a:latin typeface="Arial"/>
              </a:rPr>
              <a:t>03</a:t>
            </a:r>
          </a:p>
        </p:txBody>
      </p:sp>
      <p:sp>
        <p:nvSpPr>
          <p:cNvPr id="25" name="text"/>
          <p:cNvSpPr txBox="1"/>
          <p:nvPr/>
        </p:nvSpPr>
        <p:spPr>
          <a:xfrm>
            <a:off x="1691640" y="4626864"/>
            <a:ext cx="6748272" cy="320040"/>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Routing + environment model</a:t>
            </a:r>
          </a:p>
        </p:txBody>
      </p:sp>
      <p:sp>
        <p:nvSpPr>
          <p:cNvPr id="26" name="text"/>
          <p:cNvSpPr txBox="1"/>
          <p:nvPr/>
        </p:nvSpPr>
        <p:spPr>
          <a:xfrm>
            <a:off x="1691640" y="4983480"/>
            <a:ext cx="6748272" cy="274320"/>
          </a:xfrm>
          <a:prstGeom prst="rect">
            <a:avLst/>
          </a:prstGeom>
          <a:noFill/>
        </p:spPr>
        <p:txBody>
          <a:bodyPr wrap="none" lIns="0" rIns="0" tIns="0" bIns="0" anchor="t">
            <a:spAutoFit/>
          </a:bodyPr>
          <a:lstStyle/>
          <a:p>
            <a:pPr algn="l">
              <a:lnSpc>
                <a:spcPts val="1897"/>
              </a:lnSpc>
              <a:spcBef>
                <a:spcPts val="0"/>
              </a:spcBef>
              <a:spcAft>
                <a:spcPts val="0"/>
              </a:spcAft>
            </a:pPr>
            <a:r>
              <a:rPr sz="1650" b="0">
                <a:solidFill>
                  <a:srgbClr val="607068"/>
                </a:solidFill>
                <a:latin typeface="Arial"/>
              </a:rPr>
              <a:t>Profile costs · fuzzy discomfort · directed path search</a:t>
            </a:r>
          </a:p>
        </p:txBody>
      </p:sp>
      <p:cxnSp>
        <p:nvCxnSpPr>
          <p:cNvPr id="27" name="line"/>
          <p:cNvCxnSpPr/>
          <p:nvPr/>
        </p:nvCxnSpPr>
        <p:spPr>
          <a:xfrm>
            <a:off x="1152144" y="5303520"/>
            <a:ext cx="0" cy="128016"/>
          </a:xfrm>
          <a:prstGeom prst="line">
            <a:avLst/>
          </a:prstGeom>
          <a:ln w="15240">
            <a:solidFill>
              <a:srgbClr val="087B45"/>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card-shadow"/>
          <p:cNvSpPr/>
          <p:nvPr/>
        </p:nvSpPr>
        <p:spPr>
          <a:xfrm>
            <a:off x="694944" y="5504688"/>
            <a:ext cx="8147304" cy="768096"/>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rd"/>
          <p:cNvSpPr/>
          <p:nvPr/>
        </p:nvSpPr>
        <p:spPr>
          <a:xfrm>
            <a:off x="658368" y="5449824"/>
            <a:ext cx="8147304" cy="768096"/>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886968" y="5632704"/>
            <a:ext cx="566928" cy="374904"/>
          </a:xfrm>
          <a:prstGeom prst="rect">
            <a:avLst/>
          </a:prstGeom>
          <a:noFill/>
        </p:spPr>
        <p:txBody>
          <a:bodyPr wrap="none" lIns="0" rIns="0" tIns="0" bIns="0" anchor="t">
            <a:spAutoFit/>
          </a:bodyPr>
          <a:lstStyle/>
          <a:p>
            <a:pPr algn="l">
              <a:lnSpc>
                <a:spcPts val="2645"/>
              </a:lnSpc>
              <a:spcBef>
                <a:spcPts val="0"/>
              </a:spcBef>
              <a:spcAft>
                <a:spcPts val="0"/>
              </a:spcAft>
            </a:pPr>
            <a:r>
              <a:rPr sz="2300" b="1">
                <a:solidFill>
                  <a:srgbClr val="087B45"/>
                </a:solidFill>
                <a:latin typeface="Arial"/>
              </a:rPr>
              <a:t>04</a:t>
            </a:r>
          </a:p>
        </p:txBody>
      </p:sp>
      <p:sp>
        <p:nvSpPr>
          <p:cNvPr id="31" name="text"/>
          <p:cNvSpPr txBox="1"/>
          <p:nvPr/>
        </p:nvSpPr>
        <p:spPr>
          <a:xfrm>
            <a:off x="1691640" y="5541264"/>
            <a:ext cx="6748272" cy="320040"/>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GIS preprocessing + cache</a:t>
            </a:r>
          </a:p>
        </p:txBody>
      </p:sp>
      <p:sp>
        <p:nvSpPr>
          <p:cNvPr id="32" name="text"/>
          <p:cNvSpPr txBox="1"/>
          <p:nvPr/>
        </p:nvSpPr>
        <p:spPr>
          <a:xfrm>
            <a:off x="1691640" y="5897880"/>
            <a:ext cx="6748272" cy="274320"/>
          </a:xfrm>
          <a:prstGeom prst="rect">
            <a:avLst/>
          </a:prstGeom>
          <a:noFill/>
        </p:spPr>
        <p:txBody>
          <a:bodyPr wrap="none" lIns="0" rIns="0" tIns="0" bIns="0" anchor="t">
            <a:spAutoFit/>
          </a:bodyPr>
          <a:lstStyle/>
          <a:p>
            <a:pPr algn="l">
              <a:lnSpc>
                <a:spcPts val="1897"/>
              </a:lnSpc>
              <a:spcBef>
                <a:spcPts val="0"/>
              </a:spcBef>
              <a:spcAft>
                <a:spcPts val="0"/>
              </a:spcAft>
            </a:pPr>
            <a:r>
              <a:rPr sz="1650" b="0">
                <a:solidFill>
                  <a:srgbClr val="607068"/>
                </a:solidFill>
                <a:latin typeface="Arial"/>
              </a:rPr>
              <a:t>Graph export · height raster · shade tables · LRU cache</a:t>
            </a:r>
          </a:p>
        </p:txBody>
      </p:sp>
      <p:sp>
        <p:nvSpPr>
          <p:cNvPr id="33" name="card-shadow"/>
          <p:cNvSpPr/>
          <p:nvPr/>
        </p:nvSpPr>
        <p:spPr>
          <a:xfrm>
            <a:off x="9198863" y="2761488"/>
            <a:ext cx="4809744" cy="1700784"/>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ard"/>
          <p:cNvSpPr/>
          <p:nvPr/>
        </p:nvSpPr>
        <p:spPr>
          <a:xfrm>
            <a:off x="9162288" y="2706624"/>
            <a:ext cx="4809744" cy="1700784"/>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p:cNvSpPr txBox="1"/>
          <p:nvPr/>
        </p:nvSpPr>
        <p:spPr>
          <a:xfrm>
            <a:off x="9418320" y="2898648"/>
            <a:ext cx="4297680" cy="310896"/>
          </a:xfrm>
          <a:prstGeom prst="rect">
            <a:avLst/>
          </a:prstGeom>
          <a:noFill/>
        </p:spPr>
        <p:txBody>
          <a:bodyPr wrap="none" lIns="0" rIns="0" tIns="0" bIns="0" anchor="t">
            <a:spAutoFit/>
          </a:bodyPr>
          <a:lstStyle/>
          <a:p>
            <a:pPr algn="l">
              <a:lnSpc>
                <a:spcPts val="1954"/>
              </a:lnSpc>
              <a:spcBef>
                <a:spcPts val="0"/>
              </a:spcBef>
              <a:spcAft>
                <a:spcPts val="0"/>
              </a:spcAft>
            </a:pPr>
            <a:r>
              <a:rPr sz="1700" b="1">
                <a:solidFill>
                  <a:srgbClr val="087B45"/>
                </a:solidFill>
                <a:latin typeface="Arial"/>
              </a:rPr>
              <a:t>THIRD-PARTY LIBRARIES</a:t>
            </a:r>
          </a:p>
        </p:txBody>
      </p:sp>
      <p:sp>
        <p:nvSpPr>
          <p:cNvPr id="36" name="text"/>
          <p:cNvSpPr txBox="1"/>
          <p:nvPr/>
        </p:nvSpPr>
        <p:spPr>
          <a:xfrm>
            <a:off x="9418320" y="3383280"/>
            <a:ext cx="4297680" cy="950976"/>
          </a:xfrm>
          <a:prstGeom prst="rect">
            <a:avLst/>
          </a:prstGeom>
          <a:noFill/>
        </p:spPr>
        <p:txBody>
          <a:bodyPr wrap="none" lIns="0" rIns="0" tIns="0" bIns="0" anchor="t">
            <a:spAutoFit/>
          </a:bodyPr>
          <a:lstStyle/>
          <a:p>
            <a:pPr algn="l">
              <a:lnSpc>
                <a:spcPts val="2300"/>
              </a:lnSpc>
              <a:spcBef>
                <a:spcPts val="0"/>
              </a:spcBef>
              <a:spcAft>
                <a:spcPts val="0"/>
              </a:spcAft>
            </a:pPr>
            <a:r>
              <a:rPr sz="2000" b="0">
                <a:solidFill>
                  <a:srgbClr val="14231D"/>
                </a:solidFill>
                <a:latin typeface="Arial"/>
              </a:rPr>
              <a:t>Leaflet · Flask · Pydantic</a:t>
            </a:r>
          </a:p>
          <a:p>
            <a:pPr algn="l">
              <a:lnSpc>
                <a:spcPts val="2300"/>
              </a:lnSpc>
              <a:spcBef>
                <a:spcPts val="0"/>
              </a:spcBef>
              <a:spcAft>
                <a:spcPts val="0"/>
              </a:spcAft>
            </a:pPr>
            <a:r>
              <a:rPr sz="2000" b="0">
                <a:solidFill>
                  <a:srgbClr val="14231D"/>
                </a:solidFill>
                <a:latin typeface="Arial"/>
              </a:rPr>
              <a:t>SciPy · pvlib · scikit-fuzzy</a:t>
            </a:r>
          </a:p>
          <a:p>
            <a:pPr algn="l">
              <a:lnSpc>
                <a:spcPts val="2300"/>
              </a:lnSpc>
              <a:spcBef>
                <a:spcPts val="0"/>
              </a:spcBef>
              <a:spcAft>
                <a:spcPts val="0"/>
              </a:spcAft>
            </a:pPr>
            <a:r>
              <a:rPr sz="2000" b="0">
                <a:solidFill>
                  <a:srgbClr val="14231D"/>
                </a:solidFill>
                <a:latin typeface="Arial"/>
              </a:rPr>
              <a:t>GeoPandas · Rasterio · OSMnx</a:t>
            </a:r>
          </a:p>
        </p:txBody>
      </p:sp>
      <p:sp>
        <p:nvSpPr>
          <p:cNvPr id="37" name="card-shadow"/>
          <p:cNvSpPr/>
          <p:nvPr/>
        </p:nvSpPr>
        <p:spPr>
          <a:xfrm>
            <a:off x="9198863" y="4654296"/>
            <a:ext cx="4809744" cy="1700784"/>
          </a:xfrm>
          <a:prstGeom prst="roundRect">
            <a:avLst>
              <a:gd name="adj" fmla="val 12000"/>
            </a:avLst>
          </a:prstGeom>
          <a:solidFill>
            <a:srgbClr val="E9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rd"/>
          <p:cNvSpPr/>
          <p:nvPr/>
        </p:nvSpPr>
        <p:spPr>
          <a:xfrm>
            <a:off x="9162288" y="4599432"/>
            <a:ext cx="4809744" cy="1700784"/>
          </a:xfrm>
          <a:prstGeom prst="roundRect">
            <a:avLst>
              <a:gd name="adj" fmla="val 12000"/>
            </a:avLst>
          </a:prstGeom>
          <a:solidFill>
            <a:srgbClr val="FFFFFF"/>
          </a:solidFill>
          <a:ln w="12700">
            <a:solidFill>
              <a:srgbClr val="D9E2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p:cNvSpPr txBox="1"/>
          <p:nvPr/>
        </p:nvSpPr>
        <p:spPr>
          <a:xfrm>
            <a:off x="9418320" y="4791456"/>
            <a:ext cx="4297680" cy="310896"/>
          </a:xfrm>
          <a:prstGeom prst="rect">
            <a:avLst/>
          </a:prstGeom>
          <a:noFill/>
        </p:spPr>
        <p:txBody>
          <a:bodyPr wrap="none" lIns="0" rIns="0" tIns="0" bIns="0" anchor="t">
            <a:spAutoFit/>
          </a:bodyPr>
          <a:lstStyle/>
          <a:p>
            <a:pPr algn="l">
              <a:lnSpc>
                <a:spcPts val="1954"/>
              </a:lnSpc>
              <a:spcBef>
                <a:spcPts val="0"/>
              </a:spcBef>
              <a:spcAft>
                <a:spcPts val="0"/>
              </a:spcAft>
            </a:pPr>
            <a:r>
              <a:rPr sz="1700" b="1">
                <a:solidFill>
                  <a:srgbClr val="087B45"/>
                </a:solidFill>
                <a:latin typeface="Arial"/>
              </a:rPr>
              <a:t>EXTERNAL APIs / DATA</a:t>
            </a:r>
          </a:p>
        </p:txBody>
      </p:sp>
      <p:sp>
        <p:nvSpPr>
          <p:cNvPr id="40" name="text"/>
          <p:cNvSpPr txBox="1"/>
          <p:nvPr/>
        </p:nvSpPr>
        <p:spPr>
          <a:xfrm>
            <a:off x="9418320" y="5276088"/>
            <a:ext cx="4297680" cy="950976"/>
          </a:xfrm>
          <a:prstGeom prst="rect">
            <a:avLst/>
          </a:prstGeom>
          <a:noFill/>
        </p:spPr>
        <p:txBody>
          <a:bodyPr wrap="none" lIns="0" rIns="0" tIns="0" bIns="0" anchor="t">
            <a:spAutoFit/>
          </a:bodyPr>
          <a:lstStyle/>
          <a:p>
            <a:pPr algn="l">
              <a:lnSpc>
                <a:spcPts val="2300"/>
              </a:lnSpc>
              <a:spcBef>
                <a:spcPts val="0"/>
              </a:spcBef>
              <a:spcAft>
                <a:spcPts val="0"/>
              </a:spcAft>
            </a:pPr>
            <a:r>
              <a:rPr sz="2000" b="0">
                <a:solidFill>
                  <a:srgbClr val="14231D"/>
                </a:solidFill>
                <a:latin typeface="Arial"/>
              </a:rPr>
              <a:t>OpenStreetMap · GUGiK LoD1</a:t>
            </a:r>
          </a:p>
          <a:p>
            <a:pPr algn="l">
              <a:lnSpc>
                <a:spcPts val="2300"/>
              </a:lnSpc>
              <a:spcBef>
                <a:spcPts val="0"/>
              </a:spcBef>
              <a:spcAft>
                <a:spcPts val="0"/>
              </a:spcAft>
            </a:pPr>
            <a:r>
              <a:rPr sz="2000" b="0">
                <a:solidFill>
                  <a:srgbClr val="14231D"/>
                </a:solidFill>
                <a:latin typeface="Arial"/>
              </a:rPr>
              <a:t>MSIP green cover · Open-Meteo</a:t>
            </a:r>
          </a:p>
          <a:p>
            <a:pPr algn="l">
              <a:lnSpc>
                <a:spcPts val="2300"/>
              </a:lnSpc>
              <a:spcBef>
                <a:spcPts val="0"/>
              </a:spcBef>
              <a:spcAft>
                <a:spcPts val="0"/>
              </a:spcAft>
            </a:pPr>
            <a:r>
              <a:rPr sz="2000" b="0">
                <a:solidFill>
                  <a:srgbClr val="14231D"/>
                </a:solidFill>
                <a:latin typeface="Arial"/>
              </a:rPr>
              <a:t>GIOŚ monitoring stations</a:t>
            </a:r>
          </a:p>
        </p:txBody>
      </p:sp>
      <p:sp>
        <p:nvSpPr>
          <p:cNvPr id="41" name="shape"/>
          <p:cNvSpPr/>
          <p:nvPr/>
        </p:nvSpPr>
        <p:spPr>
          <a:xfrm>
            <a:off x="658368" y="6592824"/>
            <a:ext cx="13313664" cy="941832"/>
          </a:xfrm>
          <a:prstGeom prst="roundRect">
            <a:avLst>
              <a:gd name="adj" fmla="val 12000"/>
            </a:avLst>
          </a:prstGeom>
          <a:solidFill>
            <a:srgbClr val="E4F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p:cNvSpPr txBox="1"/>
          <p:nvPr/>
        </p:nvSpPr>
        <p:spPr>
          <a:xfrm>
            <a:off x="923544" y="6729984"/>
            <a:ext cx="1097280" cy="566928"/>
          </a:xfrm>
          <a:prstGeom prst="rect">
            <a:avLst/>
          </a:prstGeom>
          <a:noFill/>
        </p:spPr>
        <p:txBody>
          <a:bodyPr wrap="none" lIns="0" rIns="0" tIns="0" bIns="0" anchor="t">
            <a:spAutoFit/>
          </a:bodyPr>
          <a:lstStyle/>
          <a:p>
            <a:pPr algn="l">
              <a:lnSpc>
                <a:spcPts val="4140"/>
              </a:lnSpc>
              <a:spcBef>
                <a:spcPts val="0"/>
              </a:spcBef>
              <a:spcAft>
                <a:spcPts val="0"/>
              </a:spcAft>
            </a:pPr>
            <a:r>
              <a:rPr sz="3600" b="1">
                <a:solidFill>
                  <a:srgbClr val="087B45"/>
                </a:solidFill>
                <a:latin typeface="Arial"/>
              </a:rPr>
              <a:t>4</a:t>
            </a:r>
          </a:p>
        </p:txBody>
      </p:sp>
      <p:sp>
        <p:nvSpPr>
          <p:cNvPr id="43" name="text"/>
          <p:cNvSpPr txBox="1"/>
          <p:nvPr/>
        </p:nvSpPr>
        <p:spPr>
          <a:xfrm>
            <a:off x="2212848" y="6894576"/>
            <a:ext cx="3456432" cy="393192"/>
          </a:xfrm>
          <a:prstGeom prst="rect">
            <a:avLst/>
          </a:prstGeom>
          <a:noFill/>
        </p:spPr>
        <p:txBody>
          <a:bodyPr wrap="none" lIns="0" rIns="0" tIns="0" bIns="0" anchor="t">
            <a:spAutoFit/>
          </a:bodyPr>
          <a:lstStyle/>
          <a:p>
            <a:pPr algn="l">
              <a:lnSpc>
                <a:spcPts val="2415"/>
              </a:lnSpc>
              <a:spcBef>
                <a:spcPts val="0"/>
              </a:spcBef>
              <a:spcAft>
                <a:spcPts val="0"/>
              </a:spcAft>
            </a:pPr>
            <a:r>
              <a:rPr sz="2100" b="1">
                <a:solidFill>
                  <a:srgbClr val="14231D"/>
                </a:solidFill>
                <a:latin typeface="Arial"/>
              </a:rPr>
              <a:t>integrated layers</a:t>
            </a:r>
          </a:p>
        </p:txBody>
      </p:sp>
      <p:cxnSp>
        <p:nvCxnSpPr>
          <p:cNvPr id="44" name="line"/>
          <p:cNvCxnSpPr/>
          <p:nvPr/>
        </p:nvCxnSpPr>
        <p:spPr>
          <a:xfrm>
            <a:off x="5769864" y="6766560"/>
            <a:ext cx="0" cy="576071"/>
          </a:xfrm>
          <a:prstGeom prst="line">
            <a:avLst/>
          </a:prstGeom>
          <a:ln w="13970">
            <a:solidFill>
              <a:srgbClr val="D9E2D9"/>
            </a:solidFill>
          </a:ln>
        </p:spPr>
        <p:style>
          <a:lnRef idx="2">
            <a:schemeClr val="accent1"/>
          </a:lnRef>
          <a:fillRef idx="0">
            <a:schemeClr val="accent1"/>
          </a:fillRef>
          <a:effectRef idx="1">
            <a:schemeClr val="accent1"/>
          </a:effectRef>
          <a:fontRef idx="minor">
            <a:schemeClr val="tx1"/>
          </a:fontRef>
        </p:style>
      </p:cxnSp>
      <p:sp>
        <p:nvSpPr>
          <p:cNvPr id="45" name="text"/>
          <p:cNvSpPr txBox="1"/>
          <p:nvPr/>
        </p:nvSpPr>
        <p:spPr>
          <a:xfrm>
            <a:off x="6071616" y="6821424"/>
            <a:ext cx="7598664" cy="640080"/>
          </a:xfrm>
          <a:prstGeom prst="rect">
            <a:avLst/>
          </a:prstGeom>
          <a:noFill/>
        </p:spPr>
        <p:txBody>
          <a:bodyPr wrap="none" lIns="0" rIns="0" tIns="0" bIns="0" anchor="t">
            <a:spAutoFit/>
          </a:bodyPr>
          <a:lstStyle/>
          <a:p>
            <a:pPr algn="l">
              <a:lnSpc>
                <a:spcPts val="1954"/>
              </a:lnSpc>
              <a:spcBef>
                <a:spcPts val="0"/>
              </a:spcBef>
              <a:spcAft>
                <a:spcPts val="0"/>
              </a:spcAft>
            </a:pPr>
            <a:r>
              <a:rPr sz="1700" b="0">
                <a:solidFill>
                  <a:srgbClr val="607068"/>
                </a:solidFill>
                <a:latin typeface="Arial"/>
              </a:rPr>
              <a:t>Real-module integration verified on fixture graphs.</a:t>
            </a:r>
          </a:p>
          <a:p>
            <a:pPr algn="l">
              <a:lnSpc>
                <a:spcPts val="1954"/>
              </a:lnSpc>
              <a:spcBef>
                <a:spcPts val="0"/>
              </a:spcBef>
              <a:spcAft>
                <a:spcPts val="0"/>
              </a:spcAft>
            </a:pPr>
            <a:r>
              <a:rPr sz="1700" b="0">
                <a:solidFill>
                  <a:srgbClr val="607068"/>
                </a:solidFill>
                <a:latin typeface="Arial"/>
              </a:rPr>
              <a:t>Application screenshots show the Kraków demo.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31B"/>
        </a:solidFill>
        <a:effectLst/>
      </p:bgPr>
    </p:bg>
    <p:spTree>
      <p:nvGrpSpPr>
        <p:cNvPr id="1" name=""/>
        <p:cNvGrpSpPr/>
        <p:nvPr/>
      </p:nvGrpSpPr>
      <p:grpSpPr/>
      <p:sp>
        <p:nvSpPr>
          <p:cNvPr id="2" name="shape"/>
          <p:cNvSpPr/>
          <p:nvPr/>
        </p:nvSpPr>
        <p:spPr>
          <a:xfrm>
            <a:off x="658368" y="420624"/>
            <a:ext cx="347472" cy="64008"/>
          </a:xfrm>
          <a:prstGeom prst="rect">
            <a:avLst/>
          </a:prstGeom>
          <a:solidFill>
            <a:srgbClr val="65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cNvSpPr txBox="1"/>
          <p:nvPr/>
        </p:nvSpPr>
        <p:spPr>
          <a:xfrm>
            <a:off x="1161288" y="356616"/>
            <a:ext cx="12618720" cy="292608"/>
          </a:xfrm>
          <a:prstGeom prst="rect">
            <a:avLst/>
          </a:prstGeom>
          <a:noFill/>
        </p:spPr>
        <p:txBody>
          <a:bodyPr wrap="none" lIns="0" rIns="0" tIns="0" bIns="0" anchor="t">
            <a:spAutoFit/>
          </a:bodyPr>
          <a:lstStyle/>
          <a:p>
            <a:pPr algn="l">
              <a:lnSpc>
                <a:spcPts val="1782"/>
              </a:lnSpc>
              <a:spcBef>
                <a:spcPts val="0"/>
              </a:spcBef>
              <a:spcAft>
                <a:spcPts val="0"/>
              </a:spcAft>
            </a:pPr>
            <a:r>
              <a:rPr sz="1550" b="1">
                <a:solidFill>
                  <a:srgbClr val="65E5A0"/>
                </a:solidFill>
                <a:latin typeface="Arial"/>
              </a:rPr>
              <a:t>ONE PRODUCT / CONNECTED VALUE</a:t>
            </a:r>
          </a:p>
        </p:txBody>
      </p:sp>
      <p:sp>
        <p:nvSpPr>
          <p:cNvPr id="4" name="slide-title"/>
          <p:cNvSpPr txBox="1"/>
          <p:nvPr/>
        </p:nvSpPr>
        <p:spPr>
          <a:xfrm>
            <a:off x="658368" y="868680"/>
            <a:ext cx="13313664" cy="692023"/>
          </a:xfrm>
          <a:prstGeom prst="rect">
            <a:avLst/>
          </a:prstGeom>
          <a:noFill/>
        </p:spPr>
        <p:txBody>
          <a:bodyPr wrap="none" lIns="0" rIns="0" tIns="0" bIns="0" anchor="t">
            <a:spAutoFit/>
          </a:bodyPr>
          <a:lstStyle/>
          <a:p>
            <a:pPr algn="l">
              <a:lnSpc>
                <a:spcPts val="4945"/>
              </a:lnSpc>
              <a:spcBef>
                <a:spcPts val="0"/>
              </a:spcBef>
              <a:spcAft>
                <a:spcPts val="0"/>
              </a:spcAft>
            </a:pPr>
            <a:r>
              <a:rPr sz="4300" b="1">
                <a:solidFill>
                  <a:srgbClr val="FFFFFF"/>
                </a:solidFill>
                <a:latin typeface="Arial"/>
              </a:rPr>
              <a:t>One product. Two impacts.</a:t>
            </a:r>
          </a:p>
        </p:txBody>
      </p:sp>
      <p:cxnSp>
        <p:nvCxnSpPr>
          <p:cNvPr id="5" name="line"/>
          <p:cNvCxnSpPr/>
          <p:nvPr/>
        </p:nvCxnSpPr>
        <p:spPr>
          <a:xfrm>
            <a:off x="658368" y="7754112"/>
            <a:ext cx="13313664" cy="0"/>
          </a:xfrm>
          <a:prstGeom prst="line">
            <a:avLst/>
          </a:prstGeom>
          <a:ln w="10160">
            <a:solidFill>
              <a:srgbClr val="2B4435"/>
            </a:solidFill>
          </a:ln>
        </p:spPr>
        <p:style>
          <a:lnRef idx="2">
            <a:schemeClr val="accent1"/>
          </a:lnRef>
          <a:fillRef idx="0">
            <a:schemeClr val="accent1"/>
          </a:fillRef>
          <a:effectRef idx="1">
            <a:schemeClr val="accent1"/>
          </a:effectRef>
          <a:fontRef idx="minor">
            <a:schemeClr val="tx1"/>
          </a:fontRef>
        </p:style>
      </p:cxnSp>
      <p:sp>
        <p:nvSpPr>
          <p:cNvPr id="6" name="footer-brand"/>
          <p:cNvSpPr txBox="1"/>
          <p:nvPr/>
        </p:nvSpPr>
        <p:spPr>
          <a:xfrm>
            <a:off x="658368" y="7900416"/>
            <a:ext cx="5486400" cy="192024"/>
          </a:xfrm>
          <a:prstGeom prst="rect">
            <a:avLst/>
          </a:prstGeom>
          <a:noFill/>
        </p:spPr>
        <p:txBody>
          <a:bodyPr wrap="none" lIns="0" rIns="0" tIns="0" bIns="0" anchor="t">
            <a:spAutoFit/>
          </a:bodyPr>
          <a:lstStyle/>
          <a:p>
            <a:pPr algn="l">
              <a:lnSpc>
                <a:spcPts val="1437"/>
              </a:lnSpc>
              <a:spcBef>
                <a:spcPts val="0"/>
              </a:spcBef>
              <a:spcAft>
                <a:spcPts val="0"/>
              </a:spcAft>
            </a:pPr>
            <a:r>
              <a:rPr sz="1250" b="0">
                <a:solidFill>
                  <a:srgbClr val="C0D0C5"/>
                </a:solidFill>
                <a:latin typeface="Arial"/>
              </a:rPr>
              <a:t>BiKing  /  HackYeah 2026</a:t>
            </a:r>
          </a:p>
        </p:txBody>
      </p:sp>
      <p:sp>
        <p:nvSpPr>
          <p:cNvPr id="7" name="footer-number"/>
          <p:cNvSpPr txBox="1"/>
          <p:nvPr/>
        </p:nvSpPr>
        <p:spPr>
          <a:xfrm>
            <a:off x="12847320" y="7882127"/>
            <a:ext cx="1124712" cy="219456"/>
          </a:xfrm>
          <a:prstGeom prst="rect">
            <a:avLst/>
          </a:prstGeom>
          <a:noFill/>
        </p:spPr>
        <p:txBody>
          <a:bodyPr wrap="none" lIns="0" rIns="0" tIns="0" bIns="0" anchor="t">
            <a:spAutoFit/>
          </a:bodyPr>
          <a:lstStyle/>
          <a:p>
            <a:pPr algn="r">
              <a:lnSpc>
                <a:spcPts val="1495"/>
              </a:lnSpc>
              <a:spcBef>
                <a:spcPts val="0"/>
              </a:spcBef>
              <a:spcAft>
                <a:spcPts val="0"/>
              </a:spcAft>
            </a:pPr>
            <a:r>
              <a:rPr sz="1300" b="0">
                <a:solidFill>
                  <a:srgbClr val="C0D0C5"/>
                </a:solidFill>
                <a:latin typeface="Arial"/>
              </a:rPr>
              <a:t>10 / 10</a:t>
            </a:r>
          </a:p>
        </p:txBody>
      </p:sp>
      <p:sp>
        <p:nvSpPr>
          <p:cNvPr id="8" name="card"/>
          <p:cNvSpPr/>
          <p:nvPr/>
        </p:nvSpPr>
        <p:spPr>
          <a:xfrm>
            <a:off x="658368" y="2194560"/>
            <a:ext cx="6492240" cy="3291840"/>
          </a:xfrm>
          <a:prstGeom prst="roundRect">
            <a:avLst>
              <a:gd name="adj" fmla="val 12000"/>
            </a:avLst>
          </a:prstGeom>
          <a:solidFill>
            <a:srgbClr val="1B3328"/>
          </a:solidFill>
          <a:ln w="12700">
            <a:solidFill>
              <a:srgbClr val="355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p:cNvSpPr/>
          <p:nvPr/>
        </p:nvSpPr>
        <p:spPr>
          <a:xfrm>
            <a:off x="7470648" y="2194560"/>
            <a:ext cx="6501384" cy="3291840"/>
          </a:xfrm>
          <a:prstGeom prst="roundRect">
            <a:avLst>
              <a:gd name="adj" fmla="val 12000"/>
            </a:avLst>
          </a:prstGeom>
          <a:solidFill>
            <a:srgbClr val="1B3328"/>
          </a:solidFill>
          <a:ln w="12700">
            <a:solidFill>
              <a:srgbClr val="355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969264" y="2505456"/>
            <a:ext cx="5861304" cy="356616"/>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65E5A0"/>
                </a:solidFill>
                <a:latin typeface="Arial"/>
              </a:rPr>
              <a:t>SPORT &amp; HEALTHCARE</a:t>
            </a:r>
          </a:p>
        </p:txBody>
      </p:sp>
      <p:sp>
        <p:nvSpPr>
          <p:cNvPr id="11" name="text"/>
          <p:cNvSpPr txBox="1"/>
          <p:nvPr/>
        </p:nvSpPr>
        <p:spPr>
          <a:xfrm>
            <a:off x="969264" y="3063240"/>
            <a:ext cx="5861304" cy="987552"/>
          </a:xfrm>
          <a:prstGeom prst="rect">
            <a:avLst/>
          </a:prstGeom>
          <a:noFill/>
        </p:spPr>
        <p:txBody>
          <a:bodyPr wrap="none" lIns="0" rIns="0" tIns="0" bIns="0" anchor="t">
            <a:spAutoFit/>
          </a:bodyPr>
          <a:lstStyle/>
          <a:p>
            <a:pPr algn="l">
              <a:lnSpc>
                <a:spcPts val="3450"/>
              </a:lnSpc>
              <a:spcBef>
                <a:spcPts val="0"/>
              </a:spcBef>
              <a:spcAft>
                <a:spcPts val="0"/>
              </a:spcAft>
            </a:pPr>
            <a:r>
              <a:rPr sz="3000" b="1">
                <a:solidFill>
                  <a:srgbClr val="FFFFFF"/>
                </a:solidFill>
                <a:latin typeface="Arial"/>
              </a:rPr>
              <a:t>Make outdoor rides</a:t>
            </a:r>
          </a:p>
          <a:p>
            <a:pPr algn="l">
              <a:lnSpc>
                <a:spcPts val="3450"/>
              </a:lnSpc>
              <a:spcBef>
                <a:spcPts val="0"/>
              </a:spcBef>
              <a:spcAft>
                <a:spcPts val="0"/>
              </a:spcAft>
            </a:pPr>
            <a:r>
              <a:rPr sz="3000" b="1">
                <a:solidFill>
                  <a:srgbClr val="FFFFFF"/>
                </a:solidFill>
                <a:latin typeface="Arial"/>
              </a:rPr>
              <a:t>more informed.</a:t>
            </a:r>
          </a:p>
        </p:txBody>
      </p:sp>
      <p:sp>
        <p:nvSpPr>
          <p:cNvPr id="12" name="text"/>
          <p:cNvSpPr txBox="1"/>
          <p:nvPr/>
        </p:nvSpPr>
        <p:spPr>
          <a:xfrm>
            <a:off x="969264" y="4489704"/>
            <a:ext cx="5861304" cy="923544"/>
          </a:xfrm>
          <a:prstGeom prst="rect">
            <a:avLst/>
          </a:prstGeom>
          <a:noFill/>
        </p:spPr>
        <p:txBody>
          <a:bodyPr wrap="none" lIns="0" rIns="0" tIns="0" bIns="0" anchor="t">
            <a:spAutoFit/>
          </a:bodyPr>
          <a:lstStyle/>
          <a:p>
            <a:pPr algn="l">
              <a:lnSpc>
                <a:spcPts val="2300"/>
              </a:lnSpc>
              <a:spcBef>
                <a:spcPts val="0"/>
              </a:spcBef>
              <a:spcAft>
                <a:spcPts val="0"/>
              </a:spcAft>
            </a:pPr>
            <a:r>
              <a:rPr sz="2000" b="0">
                <a:solidFill>
                  <a:srgbClr val="C0D0C5"/>
                </a:solidFill>
                <a:latin typeface="Arial"/>
              </a:rPr>
              <a:t>Support cycling and active travel</a:t>
            </a:r>
          </a:p>
          <a:p>
            <a:pPr algn="l">
              <a:lnSpc>
                <a:spcPts val="2300"/>
              </a:lnSpc>
              <a:spcBef>
                <a:spcPts val="0"/>
              </a:spcBef>
              <a:spcAft>
                <a:spcPts val="0"/>
              </a:spcAft>
            </a:pPr>
            <a:r>
              <a:rPr sz="2000" b="0">
                <a:solidFill>
                  <a:srgbClr val="C0D0C5"/>
                </a:solidFill>
                <a:latin typeface="Arial"/>
              </a:rPr>
              <a:t>Understand air, heat, UV and shade</a:t>
            </a:r>
          </a:p>
          <a:p>
            <a:pPr algn="l">
              <a:lnSpc>
                <a:spcPts val="2300"/>
              </a:lnSpc>
              <a:spcBef>
                <a:spcPts val="0"/>
              </a:spcBef>
              <a:spcAft>
                <a:spcPts val="0"/>
              </a:spcAft>
            </a:pPr>
            <a:r>
              <a:rPr sz="2000" b="0">
                <a:solidFill>
                  <a:srgbClr val="C0D0C5"/>
                </a:solidFill>
                <a:latin typeface="Arial"/>
              </a:rPr>
              <a:t>Choose conditions that suit the ride</a:t>
            </a:r>
          </a:p>
        </p:txBody>
      </p:sp>
      <p:sp>
        <p:nvSpPr>
          <p:cNvPr id="13" name="text"/>
          <p:cNvSpPr txBox="1"/>
          <p:nvPr/>
        </p:nvSpPr>
        <p:spPr>
          <a:xfrm>
            <a:off x="7781544" y="2505456"/>
            <a:ext cx="5861304" cy="356616"/>
          </a:xfrm>
          <a:prstGeom prst="rect">
            <a:avLst/>
          </a:prstGeom>
          <a:noFill/>
        </p:spPr>
        <p:txBody>
          <a:bodyPr wrap="none" lIns="0" rIns="0" tIns="0" bIns="0" anchor="t">
            <a:spAutoFit/>
          </a:bodyPr>
          <a:lstStyle/>
          <a:p>
            <a:pPr algn="l">
              <a:lnSpc>
                <a:spcPts val="2070"/>
              </a:lnSpc>
              <a:spcBef>
                <a:spcPts val="0"/>
              </a:spcBef>
              <a:spcAft>
                <a:spcPts val="0"/>
              </a:spcAft>
            </a:pPr>
            <a:r>
              <a:rPr sz="1800" b="1">
                <a:solidFill>
                  <a:srgbClr val="65E5A0"/>
                </a:solidFill>
                <a:latin typeface="Arial"/>
              </a:rPr>
              <a:t>SMART CITY</a:t>
            </a:r>
          </a:p>
        </p:txBody>
      </p:sp>
      <p:sp>
        <p:nvSpPr>
          <p:cNvPr id="14" name="text"/>
          <p:cNvSpPr txBox="1"/>
          <p:nvPr/>
        </p:nvSpPr>
        <p:spPr>
          <a:xfrm>
            <a:off x="7781544" y="3063240"/>
            <a:ext cx="5861304" cy="987552"/>
          </a:xfrm>
          <a:prstGeom prst="rect">
            <a:avLst/>
          </a:prstGeom>
          <a:noFill/>
        </p:spPr>
        <p:txBody>
          <a:bodyPr wrap="none" lIns="0" rIns="0" tIns="0" bIns="0" anchor="t">
            <a:spAutoFit/>
          </a:bodyPr>
          <a:lstStyle/>
          <a:p>
            <a:pPr algn="l">
              <a:lnSpc>
                <a:spcPts val="3450"/>
              </a:lnSpc>
              <a:spcBef>
                <a:spcPts val="0"/>
              </a:spcBef>
              <a:spcAft>
                <a:spcPts val="0"/>
              </a:spcAft>
            </a:pPr>
            <a:r>
              <a:rPr sz="3000" b="1">
                <a:solidFill>
                  <a:srgbClr val="FFFFFF"/>
                </a:solidFill>
                <a:latin typeface="Arial"/>
              </a:rPr>
              <a:t>Turn urban data</a:t>
            </a:r>
          </a:p>
          <a:p>
            <a:pPr algn="l">
              <a:lnSpc>
                <a:spcPts val="3450"/>
              </a:lnSpc>
              <a:spcBef>
                <a:spcPts val="0"/>
              </a:spcBef>
              <a:spcAft>
                <a:spcPts val="0"/>
              </a:spcAft>
            </a:pPr>
            <a:r>
              <a:rPr sz="3000" b="1">
                <a:solidFill>
                  <a:srgbClr val="FFFFFF"/>
                </a:solidFill>
                <a:latin typeface="Arial"/>
              </a:rPr>
              <a:t>into a daily decision.</a:t>
            </a:r>
          </a:p>
        </p:txBody>
      </p:sp>
      <p:sp>
        <p:nvSpPr>
          <p:cNvPr id="15" name="text"/>
          <p:cNvSpPr txBox="1"/>
          <p:nvPr/>
        </p:nvSpPr>
        <p:spPr>
          <a:xfrm>
            <a:off x="7781544" y="4489704"/>
            <a:ext cx="5861304" cy="923544"/>
          </a:xfrm>
          <a:prstGeom prst="rect">
            <a:avLst/>
          </a:prstGeom>
          <a:noFill/>
        </p:spPr>
        <p:txBody>
          <a:bodyPr wrap="none" lIns="0" rIns="0" tIns="0" bIns="0" anchor="t">
            <a:spAutoFit/>
          </a:bodyPr>
          <a:lstStyle/>
          <a:p>
            <a:pPr algn="l">
              <a:lnSpc>
                <a:spcPts val="2300"/>
              </a:lnSpc>
              <a:spcBef>
                <a:spcPts val="0"/>
              </a:spcBef>
              <a:spcAft>
                <a:spcPts val="0"/>
              </a:spcAft>
            </a:pPr>
            <a:r>
              <a:rPr sz="2000" b="0">
                <a:solidFill>
                  <a:srgbClr val="C0D0C5"/>
                </a:solidFill>
                <a:latin typeface="Arial"/>
              </a:rPr>
              <a:t>Plan bicycle journeys on the road network</a:t>
            </a:r>
          </a:p>
          <a:p>
            <a:pPr algn="l">
              <a:lnSpc>
                <a:spcPts val="2300"/>
              </a:lnSpc>
              <a:spcBef>
                <a:spcPts val="0"/>
              </a:spcBef>
              <a:spcAft>
                <a:spcPts val="0"/>
              </a:spcAft>
            </a:pPr>
            <a:r>
              <a:rPr sz="2000" b="0">
                <a:solidFill>
                  <a:srgbClr val="C0D0C5"/>
                </a:solidFill>
                <a:latin typeface="Arial"/>
              </a:rPr>
              <a:t>Connect geometry with environmental data</a:t>
            </a:r>
          </a:p>
          <a:p>
            <a:pPr algn="l">
              <a:lnSpc>
                <a:spcPts val="2300"/>
              </a:lnSpc>
              <a:spcBef>
                <a:spcPts val="0"/>
              </a:spcBef>
              <a:spcAft>
                <a:spcPts val="0"/>
              </a:spcAft>
            </a:pPr>
            <a:r>
              <a:rPr sz="2000" b="0">
                <a:solidFill>
                  <a:srgbClr val="C0D0C5"/>
                </a:solidFill>
                <a:latin typeface="Arial"/>
              </a:rPr>
              <a:t>Use city infrastructure with context</a:t>
            </a:r>
          </a:p>
        </p:txBody>
      </p:sp>
      <p:sp>
        <p:nvSpPr>
          <p:cNvPr id="16" name="text"/>
          <p:cNvSpPr txBox="1"/>
          <p:nvPr/>
        </p:nvSpPr>
        <p:spPr>
          <a:xfrm>
            <a:off x="658368" y="6080760"/>
            <a:ext cx="13313664" cy="585216"/>
          </a:xfrm>
          <a:prstGeom prst="rect">
            <a:avLst/>
          </a:prstGeom>
          <a:noFill/>
        </p:spPr>
        <p:txBody>
          <a:bodyPr wrap="none" lIns="0" rIns="0" tIns="0" bIns="0" anchor="t">
            <a:spAutoFit/>
          </a:bodyPr>
          <a:lstStyle/>
          <a:p>
            <a:pPr algn="l">
              <a:lnSpc>
                <a:spcPts val="4140"/>
              </a:lnSpc>
              <a:spcBef>
                <a:spcPts val="0"/>
              </a:spcBef>
              <a:spcAft>
                <a:spcPts val="0"/>
              </a:spcAft>
            </a:pPr>
            <a:r>
              <a:rPr sz="3600" b="1">
                <a:solidFill>
                  <a:srgbClr val="FFFFFF"/>
                </a:solidFill>
                <a:latin typeface="Arial"/>
              </a:rPr>
              <a:t>BiKing gives every journey</a:t>
            </a:r>
          </a:p>
        </p:txBody>
      </p:sp>
      <p:sp>
        <p:nvSpPr>
          <p:cNvPr id="17" name="text"/>
          <p:cNvSpPr txBox="1"/>
          <p:nvPr/>
        </p:nvSpPr>
        <p:spPr>
          <a:xfrm>
            <a:off x="658368" y="6711696"/>
            <a:ext cx="13313664" cy="585216"/>
          </a:xfrm>
          <a:prstGeom prst="rect">
            <a:avLst/>
          </a:prstGeom>
          <a:noFill/>
        </p:spPr>
        <p:txBody>
          <a:bodyPr wrap="none" lIns="0" rIns="0" tIns="0" bIns="0" anchor="t">
            <a:spAutoFit/>
          </a:bodyPr>
          <a:lstStyle/>
          <a:p>
            <a:pPr algn="l">
              <a:lnSpc>
                <a:spcPts val="4140"/>
              </a:lnSpc>
              <a:spcBef>
                <a:spcPts val="0"/>
              </a:spcBef>
              <a:spcAft>
                <a:spcPts val="0"/>
              </a:spcAft>
            </a:pPr>
            <a:r>
              <a:rPr sz="3600" b="1">
                <a:solidFill>
                  <a:srgbClr val="65E5A0"/>
                </a:solidFill>
                <a:latin typeface="Arial"/>
              </a:rPr>
              <a:t>the context of the city around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BiKing — The shortest route is not always the best route</dc:title>
  <dc:subject>HackYeah jury presentation: Sport &amp; Healthcare and Smart City</dc:subject>
  <dc:creator>BiKing</dc:creator>
  <cp:keywords>cycling, shade, environmental routing, Kraków, HackYeah</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